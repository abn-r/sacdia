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e835bb32b14766" /><Relationship Type="http://schemas.openxmlformats.org/officeDocument/2006/relationships/extended-properties" Target="/docProps/app.xml" Id="R535861f260cd4ba7" /><Relationship Type="http://schemas.openxmlformats.org/officeDocument/2006/relationships/officeDocument" Target="/ppt/presentation.xml" Id="R08339a2e032b4a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32119bf7f44807"/>
  </p:sldMasterIdLst>
  <p:notesMasterIdLst>
    <p:notesMasterId xmlns:r="http://schemas.openxmlformats.org/officeDocument/2006/relationships" r:id="R9f5546a6f6674997"/>
  </p:notesMasterIdLst>
  <p:sldIdLst>
    <p:sldId xmlns:r="http://schemas.openxmlformats.org/officeDocument/2006/relationships" id="256" r:id="Rd2368fae50a94175"/>
    <p:sldId xmlns:r="http://schemas.openxmlformats.org/officeDocument/2006/relationships" id="257" r:id="R8f8c04d6883e4ac3"/>
    <p:sldId xmlns:r="http://schemas.openxmlformats.org/officeDocument/2006/relationships" id="258" r:id="R21a8712c99c849d9"/>
    <p:sldId xmlns:r="http://schemas.openxmlformats.org/officeDocument/2006/relationships" id="259" r:id="R0b312bd6b6534264"/>
    <p:sldId xmlns:r="http://schemas.openxmlformats.org/officeDocument/2006/relationships" id="260" r:id="R8763aa79e072404a"/>
    <p:sldId xmlns:r="http://schemas.openxmlformats.org/officeDocument/2006/relationships" id="261" r:id="R76b9bb39cff94add"/>
    <p:sldId xmlns:r="http://schemas.openxmlformats.org/officeDocument/2006/relationships" id="262" r:id="Rb9c05bc3b3d74b55"/>
    <p:sldId xmlns:r="http://schemas.openxmlformats.org/officeDocument/2006/relationships" id="263" r:id="Re2f1b1a832c84d28"/>
    <p:sldId xmlns:r="http://schemas.openxmlformats.org/officeDocument/2006/relationships" id="264" r:id="Rc9c6c0d677b44291"/>
    <p:sldId xmlns:r="http://schemas.openxmlformats.org/officeDocument/2006/relationships" id="265" r:id="R27275d228a1e4e54"/>
    <p:sldId xmlns:r="http://schemas.openxmlformats.org/officeDocument/2006/relationships" id="266" r:id="Rf9c5948b292f4a07"/>
    <p:sldId xmlns:r="http://schemas.openxmlformats.org/officeDocument/2006/relationships" id="267" r:id="Rf841c50f440c43de"/>
    <p:sldId xmlns:r="http://schemas.openxmlformats.org/officeDocument/2006/relationships" id="268" r:id="Rd14ccbc155414cb0"/>
    <p:sldId xmlns:r="http://schemas.openxmlformats.org/officeDocument/2006/relationships" id="269" r:id="Rf7dfab0ef84d47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66194e6524487f" /><Relationship Type="http://schemas.openxmlformats.org/officeDocument/2006/relationships/slideMaster" Target="/ppt/slideMasters/slideMaster1.xml" Id="R5e32119bf7f44807" /><Relationship Type="http://schemas.openxmlformats.org/officeDocument/2006/relationships/notesMaster" Target="/ppt/notesMasters/notesMaster1.xml" Id="R9f5546a6f6674997" /><Relationship Type="http://schemas.openxmlformats.org/officeDocument/2006/relationships/presProps" Target="/ppt/presProps.xml" Id="Rbe8bd80bd16b4d82" /><Relationship Type="http://schemas.openxmlformats.org/officeDocument/2006/relationships/tableStyles" Target="/ppt/tableStyles.xml" Id="R20fe165d670d45ce" /><Relationship Type="http://schemas.openxmlformats.org/officeDocument/2006/relationships/slide" Target="/ppt/slides/slide1.xml" Id="Rd2368fae50a94175" /><Relationship Type="http://schemas.openxmlformats.org/officeDocument/2006/relationships/slide" Target="/ppt/slides/slide2.xml" Id="R8f8c04d6883e4ac3" /><Relationship Type="http://schemas.openxmlformats.org/officeDocument/2006/relationships/slide" Target="/ppt/slides/slide3.xml" Id="R21a8712c99c849d9" /><Relationship Type="http://schemas.openxmlformats.org/officeDocument/2006/relationships/slide" Target="/ppt/slides/slide4.xml" Id="R0b312bd6b6534264" /><Relationship Type="http://schemas.openxmlformats.org/officeDocument/2006/relationships/slide" Target="/ppt/slides/slide5.xml" Id="R8763aa79e072404a" /><Relationship Type="http://schemas.openxmlformats.org/officeDocument/2006/relationships/slide" Target="/ppt/slides/slide6.xml" Id="R76b9bb39cff94add" /><Relationship Type="http://schemas.openxmlformats.org/officeDocument/2006/relationships/slide" Target="/ppt/slides/slide7.xml" Id="Rb9c05bc3b3d74b55" /><Relationship Type="http://schemas.openxmlformats.org/officeDocument/2006/relationships/slide" Target="/ppt/slides/slide8.xml" Id="Re2f1b1a832c84d28" /><Relationship Type="http://schemas.openxmlformats.org/officeDocument/2006/relationships/slide" Target="/ppt/slides/slide9.xml" Id="Rc9c6c0d677b44291" /><Relationship Type="http://schemas.openxmlformats.org/officeDocument/2006/relationships/slide" Target="/ppt/slides/slide10.xml" Id="R27275d228a1e4e54" /><Relationship Type="http://schemas.openxmlformats.org/officeDocument/2006/relationships/slide" Target="/ppt/slides/slide11.xml" Id="Rf9c5948b292f4a07" /><Relationship Type="http://schemas.openxmlformats.org/officeDocument/2006/relationships/slide" Target="/ppt/slides/slide12.xml" Id="Rf841c50f440c43de" /><Relationship Type="http://schemas.openxmlformats.org/officeDocument/2006/relationships/slide" Target="/ppt/slides/slide13.xml" Id="Rd14ccbc155414cb0" /><Relationship Type="http://schemas.openxmlformats.org/officeDocument/2006/relationships/slide" Target="/ppt/slides/slide14.xml" Id="Rf7dfab0ef84d47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07bae38aef4e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bf5c590138432d" /><Relationship Type="http://schemas.openxmlformats.org/officeDocument/2006/relationships/notesMaster" Target="/ppt/notesMasters/notesMaster1.xml" Id="R046acdbe34e847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5d6b8521a2496d" /><Relationship Type="http://schemas.openxmlformats.org/officeDocument/2006/relationships/notesMaster" Target="/ppt/notesMasters/notesMaster1.xml" Id="R62b6b312f50a4a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85f84bedf1419e" /><Relationship Type="http://schemas.openxmlformats.org/officeDocument/2006/relationships/notesMaster" Target="/ppt/notesMasters/notesMaster1.xml" Id="Rdaa6d70af38d47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6d8aa03b784e99" /><Relationship Type="http://schemas.openxmlformats.org/officeDocument/2006/relationships/notesMaster" Target="/ppt/notesMasters/notesMaster1.xml" Id="R4d7dff613da641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1134006f9e45c2" /><Relationship Type="http://schemas.openxmlformats.org/officeDocument/2006/relationships/notesMaster" Target="/ppt/notesMasters/notesMaster1.xml" Id="Ra3aeb24118ae4c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2f3227d566464e" /><Relationship Type="http://schemas.openxmlformats.org/officeDocument/2006/relationships/notesMaster" Target="/ppt/notesMasters/notesMaster1.xml" Id="R1f5e204ab52347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14758754114a38" /><Relationship Type="http://schemas.openxmlformats.org/officeDocument/2006/relationships/notesMaster" Target="/ppt/notesMasters/notesMaster1.xml" Id="R0657321f9f5140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872531a64c4502" /><Relationship Type="http://schemas.openxmlformats.org/officeDocument/2006/relationships/notesMaster" Target="/ppt/notesMasters/notesMaster1.xml" Id="Rdc5c620da79d40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bda35f619c46a3" /><Relationship Type="http://schemas.openxmlformats.org/officeDocument/2006/relationships/notesMaster" Target="/ppt/notesMasters/notesMaster1.xml" Id="R6a6c6a3f527940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ee4697829e4839" /><Relationship Type="http://schemas.openxmlformats.org/officeDocument/2006/relationships/notesMaster" Target="/ppt/notesMasters/notesMaster1.xml" Id="Ref4c28bf24994a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4a84478bd643d9" /><Relationship Type="http://schemas.openxmlformats.org/officeDocument/2006/relationships/notesMaster" Target="/ppt/notesMasters/notesMaster1.xml" Id="Rc2ffdfaaa51d46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46521c4d2c4f94" /><Relationship Type="http://schemas.openxmlformats.org/officeDocument/2006/relationships/notesMaster" Target="/ppt/notesMasters/notesMaster1.xml" Id="Raff565a6776e49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11b22f6d244177" /><Relationship Type="http://schemas.openxmlformats.org/officeDocument/2006/relationships/notesMaster" Target="/ppt/notesMasters/notesMaster1.xml" Id="R814d225ca56d454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be427c91084a13" /><Relationship Type="http://schemas.openxmlformats.org/officeDocument/2006/relationships/notesMaster" Target="/ppt/notesMasters/notesMaster1.xml" Id="R4b21d96ba3254e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presentar qué organiza SACDIA, quién interviene y qué requiere su adopción. Duración sugerida: 15 minutos. Audiencia: dirección de jóvenes de Unión Mexicana Interoceánica. Portada: imagen conceptual generada con image_gen, no fotografía de un evento real. Fecha del análisis: 14 de septiembre de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/Users/abner/Documents/development/sacdia/docs/canon/identidad-sacdia.md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SACDIA no es solo una app ni una biblioteca. Su propósito es conservar contexto institucional. Presentar esto como alcance del producto; la cobertura operativa de cada módulo se confirma antes del piloto.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/Users/abner/Documents/development/sacdia/docs/canon/identidad-sacdia.md; /Users/abner/Documents/development/sacdia/docs/canon/dominio-sacdia.md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flechas expresan contexto organizacional, no una secuencia de trámites. Un club no es sinónimo de cada sección. Una persona puede conservar su cuenta y su historial sin estar inscrita en el periodo actual.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/Users/abner/Documents/development/sacdia/docs/canon/dominio-sacdia.md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sustituir estas condiciones por promesas de automatización total. El valor depende tanto de las reglas del sistema como de responsables que mantengan los 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/Users/abner/Documents/development/sacdia/docs/canon/identidad-sacdia.md; /Users/abner/Documents/development/sacdia/docs/guides/conocimiento-sistema/01-fundamentos.md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es una síntesis de responsabilidades, no una asignación automática a personas ni una certificación de la base de producción. La matriz técnica distingue rutas, bypasses y permisos configurables.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/Users/abner/Documents/development/sacdia/docs/guides/conocimiento-sistema/05-matriz-roles-verificada.md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Explicación conceptual: no todos los endpoints ejecutan los controles en idéntico orden. Las asignaciones y permisos son datos configurables. No atribuir al director de Unión el rol técnico admin por el título de su cargo.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/Users/abner/Documents/development/sacdia/docs/guides/conocimiento-sistema/05-matriz-roles-verificada.md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Recorrido: autenticación → wizard → membresía pending y enrollment de clase → aprobación. No afirmar correo verificado como requisito del wizard: bloqueo no confirmado. Menores requieren representante legal. La solicitud puede rechazarse, cancelarse o vencer. Fuentes: /Users/abner/Documents/development/sacdia/docs/guides/conocimiento-sistema/06-ingreso-inicial.md; /Users/abner/Documents/development/sacdia/sacdia-backend/src/post-registration/post-registration.service.ts:239-355,459-579; /Users/abner/Documents/development/sacdia/sacdia-backend/src/membership-requests/membership-requests.service.ts:68-201.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corte NO inscribe ni crea clases: puede preparar member inactive del nuevo año. Directiva o actor autorizado necesita club_members:approve sobre sección destino. No es copiar roster anterior. Director en otra sección no es miembro ya inscrito aquí. Conectado en app; no consumo annual-continuations en admin/src. Fuentes: /Users/abner/Documents/development/sacdia/docs/guides/conocimiento-sistema/07-inscripcion-anual.md; /Users/abner/Documents/development/sacdia/sacdia-backend/src/annual-membership/annual-continuations.controller.ts:36-118; /Users/abner/Documents/development/sacdia/sacdia-backend/src/year-cut/year-cut.service.ts:199-324.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POST: enrolled, already_enrolled, blocked y failed por persona. Cada persona tiene transacción; lote puede terminar parcialmente. Bloqueo de clase revierte su activación. Annual avanza por trayectoria del mismo tipo, no regla universal por edad. D01/D02 pendientes en documentación. La app permite seleccionar suggested_class bloqueada y recibe error al POST. Fuentes: /Users/abner/Documents/development/sacdia/docs/guides/conocimiento-sistema/07-inscripcion-anual.md; /Users/abner/Documents/development/sacdia/sacdia-backend/src/annual-membership/annual-membership.service.ts:254-526.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Resumen del circuito documentado de clases/honores. No afirmar que subir cualquier archivo lo envía automáticamente a revisión. Los caminos de carga y reenvío varían según proceso. La demostración debe usar un recorrido previamente ensayado.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/Users/abner/Documents/development/sacdia/docs/canon/dominio-sacdia.md; /Users/abner/Documents/development/sacdia/docs/guides/conocimiento-sistema/02-revision-evidencias.md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lógico ejecutivo, no arquitectura de despliegue. Backend NestJS modular; app Flutter; panel Next.js. No prometer disponibilidad o capacidad a partir de esta estructura.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/Users/abner/Documents/development/sacdia/docs/guides/conocimiento-sistema/04-arquitectura-tecnica.md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propuesta no certifica despliegue, seguridad integral, SLA ni rendimiento concurrente. Los hallazgos de interfaces se documentan en los capítulos de ingreso y ciclo anual. No usar el mapa técnico como prueba de servicio disponible.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/Users/abner/Documents/development/sacdia/docs/guides/conocimiento-sistema/04-arquitectura-tecnica.md; /Users/abner/Documents/development/sacdia/docs/guides/conocimiento-sistema/07-inscripcion-anual.md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es un compromiso comercial ni una fecha de lanzamiento. Sugerir un piloto antes de ampliar uso. Los criterios de aceptación deben incluir casos de error, no solo recorridos exitosos.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solicitando acuerdos concretos, no aprobación de un despliegue universal. Antes de la demostración: confirmar cuentas/alcances, año vigente, datos ficticios y conectividad. No hay presupuesto ni plazo aprobado dentro de esta presentación.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57ff781f647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f5ca2471a54ec2" /><Relationship Type="http://schemas.openxmlformats.org/officeDocument/2006/relationships/slideLayout" Target="/ppt/slideLayouts/slideLayout1.xml" Id="R767a1582071148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7a1582071148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d2c05632443d5" /><Relationship Type="http://schemas.openxmlformats.org/officeDocument/2006/relationships/image" Target="/ppt/media/image.png" Id="R9a41a855f5ae4561" /><Relationship Type="http://schemas.openxmlformats.org/officeDocument/2006/relationships/notesSlide" Target="/ppt/notesSlides/notesSlide1.xml" Id="Rbfc35dd933c148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dee26bc4042c2" /><Relationship Type="http://schemas.openxmlformats.org/officeDocument/2006/relationships/notesSlide" Target="/ppt/notesSlides/notesSlide2.xml" Id="Rfd620538af0449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530bc07b548e0" /><Relationship Type="http://schemas.openxmlformats.org/officeDocument/2006/relationships/notesSlide" Target="/ppt/notesSlides/notesSlide3.xml" Id="R8a330e74de6244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d734a664d4b13" /><Relationship Type="http://schemas.openxmlformats.org/officeDocument/2006/relationships/notesSlide" Target="/ppt/notesSlides/notesSlide4.xml" Id="R569ec4dd07c045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46b308f414d95" /><Relationship Type="http://schemas.openxmlformats.org/officeDocument/2006/relationships/notesSlide" Target="/ppt/notesSlides/notesSlide5.xml" Id="Rf7edf15fe33e4f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32c2692fe4cc7" /><Relationship Type="http://schemas.openxmlformats.org/officeDocument/2006/relationships/notesSlide" Target="/ppt/notesSlides/notesSlide6.xml" Id="Rab0e6c07546c4d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6d509f8af4b4e" /><Relationship Type="http://schemas.openxmlformats.org/officeDocument/2006/relationships/notesSlide" Target="/ppt/notesSlides/notesSlide7.xml" Id="Red2b2f094a8249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d700e422b466b" /><Relationship Type="http://schemas.openxmlformats.org/officeDocument/2006/relationships/notesSlide" Target="/ppt/notesSlides/notesSlide8.xml" Id="Re5d664a3470246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b73a7e1664661" /><Relationship Type="http://schemas.openxmlformats.org/officeDocument/2006/relationships/notesSlide" Target="/ppt/notesSlides/notesSlide9.xml" Id="R8f9dba75cf1d4b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57a0787e04a69" /><Relationship Type="http://schemas.openxmlformats.org/officeDocument/2006/relationships/notesSlide" Target="/ppt/notesSlides/notesSlide10.xml" Id="R01c5bddab05c4a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b6a8d1e1d4d20" /><Relationship Type="http://schemas.openxmlformats.org/officeDocument/2006/relationships/notesSlide" Target="/ppt/notesSlides/notesSlide11.xml" Id="Rc57ea14a516a4e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be2d38eac4a45" /><Relationship Type="http://schemas.openxmlformats.org/officeDocument/2006/relationships/notesSlide" Target="/ppt/notesSlides/notesSlide12.xml" Id="R8a3318870f964d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13ff3cb384e86" /><Relationship Type="http://schemas.openxmlformats.org/officeDocument/2006/relationships/notesSlide" Target="/ppt/notesSlides/notesSlide13.xml" Id="Re34700eca3f4407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bd41d69f940e9" /><Relationship Type="http://schemas.openxmlformats.org/officeDocument/2006/relationships/notesSlide" Target="/ppt/notesSlides/notesSlide14.xml" Id="R8378d849287f41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1a855f5ae456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E67FF-D555-4DCA-9E73-3D28F697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SACDIA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94FC9-DD26-461D-B960-A57DDDF6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657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Administración y seguimiento</a:t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 los clubes juveniles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865C7-813B-4CD6-AD1C-D075D404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4EB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4EBDD"/>
                </a:solidFill>
                <a:latin typeface="Helvetica Neue"/>
                <a:ea typeface="Helvetica Neue"/>
                <a:cs typeface="Helvetica Neue"/>
              </a:rPr>
              <a:t>Unión Mexicana Interoceánica</a:t>
            </a:r>
          </a:p>
        </p:txBody>
      </p:sp>
    </p:spTree>
    <p:extLst>
      <p:ext uri="{BB962C8B-B14F-4D97-AF65-F5344CB8AC3E}">
        <p14:creationId xmlns:p14="http://schemas.microsoft.com/office/powerpoint/2010/main" val="2078838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46379-320B-4DE3-A060-24B4A473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Qué organiza SACDIA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D8854-00DA-43FF-B23C-1F06C7C0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88FBA-F12D-400C-A0F4-88CDC3EF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Personas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87FAF-5833-4F4A-9ACA-FC7B9B7C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952625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Participación, responsabilidades y trayectoria institucional.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B4E31-4634-456D-A214-F6F24E83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Secciones de club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74C3D-0EE3-4C81-8D69-18058E09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3370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La operación de Aventureros, Conquistadores y Guías Mayores.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CD945-D898-4F62-BB47-4C7006B3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Formación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674E6-9C52-4EEE-9448-86E838E9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914775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Avances y evidencias que requieren revisión y reconocimiento.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3A698-455C-40EF-B258-F5E28A8E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Periodos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FC944-DD7F-4D0A-84A0-0C29F5B6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89585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El contexto anual de membresía y cargos.</a:t>
            </a:r>
          </a:p>
        </p:txBody>
      </p:sp>
    </p:spTree>
    <p:extLst>
      <p:ext uri="{BB962C8B-B14F-4D97-AF65-F5344CB8AC3E}">
        <p14:creationId xmlns:p14="http://schemas.microsoft.com/office/powerpoint/2010/main" val="1976494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2F9E7-ABB8-4A5F-9CF9-3F2CB8D7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Club, sección y periodo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169A4-27C7-4D06-B7CC-C1E7D923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44258-B766-436F-AE06-39B31D8E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Club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A1C4C-535A-4202-A47D-33C09179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Identidad institucional que continúa.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1A14E-9962-4FD4-83D7-81C37BFC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Sección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40116-8317-4884-B1D6-F0E5DCE8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Unidad donde se organiza la operación.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50031-F0E3-40EF-A016-769152D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Año eclesiástico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1016E-0E93-4F62-A078-7FB9AD0A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Contexto de inscripción y responsabilidades.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87800" y="29908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8339"/>
            </a:solidFill>
            <a:head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85100" y="29908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8339"/>
            </a:solidFill>
            <a:head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21378-35D8-4621-952F-E265B87D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Ejemplo ficticio: Panteras → Panteras · Conquistadores → año vigente.</a:t>
            </a:r>
          </a:p>
        </p:txBody>
      </p:sp>
    </p:spTree>
    <p:extLst>
      <p:ext uri="{BB962C8B-B14F-4D97-AF65-F5344CB8AC3E}">
        <p14:creationId xmlns:p14="http://schemas.microsoft.com/office/powerpoint/2010/main" val="10468790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46561-063E-4217-884B-52C36A8D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Beneficios esperados y sus condiciones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47DE3-04CD-4E40-B3CF-F21D6C18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3905250"/>
                <a:gridCol w="3781425"/>
              </a:tblGrid>
              <a:tr h="6953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Beneficio</a:t>
                      </a:r>
                    </a:p>
                  </a:txBody>
                  <a:tcPr marL="133350" marR="133350" marT="114300" marB="114300">
                    <a:solidFill>
                      <a:srgbClr val="18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Mecanismo</a:t>
                      </a:r>
                    </a:p>
                  </a:txBody>
                  <a:tcPr marL="133350" marR="133350" marT="114300" marB="114300">
                    <a:solidFill>
                      <a:srgbClr val="18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Condición</a:t>
                      </a:r>
                    </a:p>
                  </a:txBody>
                  <a:tcPr marL="133350" marR="133350" marT="114300" marB="114300">
                    <a:solidFill>
                      <a:srgbClr val="183D35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Menos registros dispersos</a:t>
                      </a:r>
                    </a:p>
                  </a:txBody>
                  <a:tcPr marL="133350" marR="133350" marT="114300" marB="1143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Información contextual compartida</a:t>
                      </a:r>
                    </a:p>
                  </a:txBody>
                  <a:tcPr marL="133350" marR="133350" marT="114300" marB="1143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Captura y actualización constantes</a:t>
                      </a:r>
                    </a:p>
                  </a:txBody>
                  <a:tcPr marL="133350" marR="133350" marT="114300" marB="114300">
                    <a:solidFill>
                      <a:srgbClr val="F6F4E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Claridad de responsabilidades</a:t>
                      </a:r>
                    </a:p>
                  </a:txBody>
                  <a:tcPr marL="133350" marR="133350" marT="114300" marB="1143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Permisos y alcance por operación</a:t>
                      </a:r>
                    </a:p>
                  </a:txBody>
                  <a:tcPr marL="133350" marR="133350" marT="114300" marB="1143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Cuentas y cargos bien configurados</a:t>
                      </a:r>
                    </a:p>
                  </a:txBody>
                  <a:tcPr marL="133350" marR="133350" marT="114300" marB="114300">
                    <a:solidFill>
                      <a:srgbClr val="ECEFE7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Seguimiento del avance</a:t>
                      </a:r>
                    </a:p>
                  </a:txBody>
                  <a:tcPr marL="133350" marR="133350" marT="114300" marB="1143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Evidencias y decisiones registradas</a:t>
                      </a:r>
                    </a:p>
                  </a:txBody>
                  <a:tcPr marL="133350" marR="133350" marT="114300" marB="1143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Revisión humana y atención a rechazos</a:t>
                      </a:r>
                    </a:p>
                  </a:txBody>
                  <a:tcPr marL="133350" marR="133350" marT="114300" marB="114300">
                    <a:solidFill>
                      <a:srgbClr val="F6F4E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Continuidad entre periodos</a:t>
                      </a:r>
                    </a:p>
                  </a:txBody>
                  <a:tcPr marL="133350" marR="133350" marT="114300" marB="1143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Separación de cuenta, cargo e inscripción</a:t>
                      </a:r>
                    </a:p>
                  </a:txBody>
                  <a:tcPr marL="133350" marR="133350" marT="114300" marB="1143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Ejecutar correctamente el ciclo anual</a:t>
                      </a:r>
                    </a:p>
                  </a:txBody>
                  <a:tcPr marL="133350" marR="133350" marT="114300" marB="114300">
                    <a:solidFill>
                      <a:srgbClr val="ECEFE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922E3-609D-4786-9B4D-7977D8D3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Son beneficios cualitativos; no se presentan porcentajes de ahorro ni capacidad medida.</a:t>
            </a:r>
          </a:p>
        </p:txBody>
      </p:sp>
    </p:spTree>
    <p:extLst>
      <p:ext uri="{BB962C8B-B14F-4D97-AF65-F5344CB8AC3E}">
        <p14:creationId xmlns:p14="http://schemas.microsoft.com/office/powerpoint/2010/main" val="16733050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0A976-86A7-4EF0-BF83-37273412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Responsabilidades en la operación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B7F45-7DE5-46EC-9727-360C2F51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4191000"/>
                <a:gridCol w="3781425"/>
              </a:tblGrid>
              <a:tr h="6270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Actor</a:t>
                      </a:r>
                    </a:p>
                  </a:txBody>
                  <a:tcPr marL="133350" marR="133350" marT="114300" marB="114300">
                    <a:solidFill>
                      <a:srgbClr val="18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Responsabilidad</a:t>
                      </a:r>
                    </a:p>
                  </a:txBody>
                  <a:tcPr marL="133350" marR="133350" marT="114300" marB="114300">
                    <a:solidFill>
                      <a:srgbClr val="18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Condición de acceso</a:t>
                      </a:r>
                    </a:p>
                  </a:txBody>
                  <a:tcPr marL="133350" marR="133350" marT="114300" marB="114300">
                    <a:solidFill>
                      <a:srgbClr val="183D35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Miembro</a:t>
                      </a:r>
                    </a:p>
                  </a:txBody>
                  <a:tcPr marL="133350" marR="133350" marT="114300" marB="1143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Completar su información y participar</a:t>
                      </a:r>
                    </a:p>
                  </a:txBody>
                  <a:tcPr marL="133350" marR="133350" marT="114300" marB="1143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Identidad y recursos propios</a:t>
                      </a:r>
                    </a:p>
                  </a:txBody>
                  <a:tcPr marL="133350" marR="133350" marT="114300" marB="114300">
                    <a:solidFill>
                      <a:srgbClr val="F6F4EE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Directiva de sección</a:t>
                      </a:r>
                    </a:p>
                  </a:txBody>
                  <a:tcPr marL="133350" marR="133350" marT="114300" marB="1143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Gestionar miembros y operación anual</a:t>
                      </a:r>
                    </a:p>
                  </a:txBody>
                  <a:tcPr marL="133350" marR="133350" marT="114300" marB="1143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Cargo, permiso y sección autorizada</a:t>
                      </a:r>
                    </a:p>
                  </a:txBody>
                  <a:tcPr marL="133350" marR="133350" marT="114300" marB="114300">
                    <a:solidFill>
                      <a:srgbClr val="ECEFE7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Revisor autorizado</a:t>
                      </a:r>
                    </a:p>
                  </a:txBody>
                  <a:tcPr marL="133350" marR="133350" marT="114300" marB="1143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Decidir sobre evidencias</a:t>
                      </a:r>
                    </a:p>
                  </a:txBody>
                  <a:tcPr marL="133350" marR="133350" marT="114300" marB="1143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 admitido y permiso de revisión</a:t>
                      </a:r>
                    </a:p>
                  </a:txBody>
                  <a:tcPr marL="133350" marR="133350" marT="114300" marB="114300">
                    <a:solidFill>
                      <a:srgbClr val="F6F4EE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Dirección de campo / Unión</a:t>
                      </a:r>
                    </a:p>
                  </a:txBody>
                  <a:tcPr marL="133350" marR="133350" marT="114300" marB="1143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Supervisar dentro de su ámbito</a:t>
                      </a:r>
                    </a:p>
                  </a:txBody>
                  <a:tcPr marL="133350" marR="133350" marT="114300" marB="1143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Alcance territorial y permisos</a:t>
                      </a:r>
                    </a:p>
                  </a:txBody>
                  <a:tcPr marL="133350" marR="133350" marT="114300" marB="114300">
                    <a:solidFill>
                      <a:srgbClr val="ECEFE7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Administración técnica</a:t>
                      </a:r>
                    </a:p>
                  </a:txBody>
                  <a:tcPr marL="133350" marR="133350" marT="114300" marB="1143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Configurar accesos del sistema</a:t>
                      </a:r>
                    </a:p>
                  </a:txBody>
                  <a:tcPr marL="133350" marR="133350" marT="114300" marB="1143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Facultades administrativas específicas</a:t>
                      </a:r>
                    </a:p>
                  </a:txBody>
                  <a:tcPr marL="133350" marR="133350" marT="114300" marB="114300">
                    <a:solidFill>
                      <a:srgbClr val="F6F4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A8D8B-8AA5-4F3D-B58A-D4FE7C04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Un cargo institucional no concede acceso universal ni reemplaza los permisos.</a:t>
            </a:r>
          </a:p>
        </p:txBody>
      </p:sp>
    </p:spTree>
    <p:extLst>
      <p:ext uri="{BB962C8B-B14F-4D97-AF65-F5344CB8AC3E}">
        <p14:creationId xmlns:p14="http://schemas.microsoft.com/office/powerpoint/2010/main" val="15863057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4DDDD-CCCF-44D9-97A1-B7B78895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El acceso depende del 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33E71-26EC-4B68-8F2F-82CC0DF3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FF28E-6E39-4518-8902-8521EF02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Lo que el sistema comprueba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DBC80-5977-4D20-91A7-13054FC1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476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Identidad y permisos.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Sección o territorio del recurso.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Vigencia de la responsabilidad.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813BB-7E6F-434D-9362-D549FBE8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Lo que no concede acceso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EC7FC-40DF-4081-B5AE-B2649E9D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62275"/>
            <a:ext cx="476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Conocer un identificador.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Ver un botón o un catálogo.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Haber tenido el cargo otro año.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C099B-025E-4774-A387-F22E2CDF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El backend decide; las pantallas no sustituyen sus controles.</a:t>
            </a:r>
          </a:p>
        </p:txBody>
      </p:sp>
    </p:spTree>
    <p:extLst>
      <p:ext uri="{BB962C8B-B14F-4D97-AF65-F5344CB8AC3E}">
        <p14:creationId xmlns:p14="http://schemas.microsoft.com/office/powerpoint/2010/main" val="8941237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A0C78-33D1-42FC-B0F4-BD68EE65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Ingreso inicial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F7155-07E2-45DB-A951-A7EC3289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F40A8-6887-4626-A435-37A77C3A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Cuenta y perfil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66E66-A50D-479F-83EE-D1640B70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Foto, datos personales, contacto y representante si aplica.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002A8-9DCA-4F54-9F3E-81AED724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Solicitud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D673F-CE50-42BE-97A9-E5087737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Territorio, club y sección; la clase la resuelve el backend.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F2BBC-8A83-40FD-88C7-39AB947D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Aprobación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D485A-C8DB-4D7C-8D16-D30E0FD7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La directiva autorizada decide si activa la membresía.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87800" y="29908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8339"/>
            </a:solidFill>
            <a:head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85100" y="29908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8339"/>
            </a:solidFill>
            <a:head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3F9AF-DCDB-4F8B-AF23-68C803E1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Completar el formulario deja la membresía pendiente, no activa.</a:t>
            </a:r>
          </a:p>
        </p:txBody>
      </p:sp>
    </p:spTree>
    <p:extLst>
      <p:ext uri="{BB962C8B-B14F-4D97-AF65-F5344CB8AC3E}">
        <p14:creationId xmlns:p14="http://schemas.microsoft.com/office/powerpoint/2010/main" val="17804400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DCA76-C972-4281-8568-CF419CA0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Inscripción en el año vigente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DEBD5-ABDC-4A6F-AE3D-E550380B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9D937-3A07-4CB7-85EA-7C542651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Corte de año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CADBB-B996-4438-B342-009B4B27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Cierra cargos vencidos y procesa sucesores programados.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BD918-91C8-4046-AAEA-B2565891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No inscritos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E2985-CD8E-4279-813E-9BBEFD42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La directiva consulta a quién falta inscribir en su sección.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74A4D-D2E8-4106-81D5-30F18020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Inscripción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01F45-F91E-4C02-9A81-253DB1F0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Activa membresía y resuelve la clase aplicable en una transacción.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87800" y="29908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8339"/>
            </a:solidFill>
            <a:head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85100" y="29908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8339"/>
            </a:solidFill>
            <a:head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7CDB7-032E-4561-BE83-C6B3D4C5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La cuenta continúa. Los cargos no se copian y el titular no puede autoinscribirse.</a:t>
            </a:r>
          </a:p>
        </p:txBody>
      </p:sp>
    </p:spTree>
    <p:extLst>
      <p:ext uri="{BB962C8B-B14F-4D97-AF65-F5344CB8AC3E}">
        <p14:creationId xmlns:p14="http://schemas.microsoft.com/office/powerpoint/2010/main" val="14266293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9659D-7F40-4063-9710-093970FA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Resultados y excepciones del ciclo anual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5D3C9-919D-4257-A233-C87CF649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000500"/>
                <a:gridCol w="3638550"/>
              </a:tblGrid>
              <a:tr h="6953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Resultado</a:t>
                      </a:r>
                    </a:p>
                  </a:txBody>
                  <a:tcPr marL="133350" marR="133350" marT="114300" marB="114300">
                    <a:solidFill>
                      <a:srgbClr val="18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Significado</a:t>
                      </a:r>
                    </a:p>
                  </a:txBody>
                  <a:tcPr marL="133350" marR="133350" marT="114300" marB="114300">
                    <a:solidFill>
                      <a:srgbClr val="18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Acción del responsable</a:t>
                      </a:r>
                    </a:p>
                  </a:txBody>
                  <a:tcPr marL="133350" marR="133350" marT="114300" marB="114300">
                    <a:solidFill>
                      <a:srgbClr val="183D35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Inscrito</a:t>
                      </a:r>
                    </a:p>
                  </a:txBody>
                  <a:tcPr marL="133350" marR="133350" marT="114300" marB="1143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 completó la operación para esa persona</a:t>
                      </a:r>
                    </a:p>
                  </a:txBody>
                  <a:tcPr marL="133350" marR="133350" marT="114300" marB="1143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Verificar el resultado del lote</a:t>
                      </a:r>
                    </a:p>
                  </a:txBody>
                  <a:tcPr marL="133350" marR="133350" marT="114300" marB="114300">
                    <a:solidFill>
                      <a:srgbClr val="F6F4E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Ya inscrito</a:t>
                      </a:r>
                    </a:p>
                  </a:txBody>
                  <a:tcPr marL="133350" marR="133350" marT="114300" marB="1143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 pertenencia ya estaba activa</a:t>
                      </a:r>
                    </a:p>
                  </a:txBody>
                  <a:tcPr marL="133350" marR="133350" marT="114300" marB="1143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duplicar la operación</a:t>
                      </a:r>
                    </a:p>
                  </a:txBody>
                  <a:tcPr marL="133350" marR="133350" marT="114300" marB="114300">
                    <a:solidFill>
                      <a:srgbClr val="ECEFE7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Bloqueado</a:t>
                      </a:r>
                    </a:p>
                  </a:txBody>
                  <a:tcPr marL="133350" marR="133350" marT="114300" marB="1143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Una política impide continuar</a:t>
                      </a:r>
                    </a:p>
                  </a:txBody>
                  <a:tcPr marL="133350" marR="133350" marT="114300" marB="1143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Resolver requisitos o excepción</a:t>
                      </a:r>
                    </a:p>
                  </a:txBody>
                  <a:tcPr marL="133350" marR="133350" marT="114300" marB="114300">
                    <a:solidFill>
                      <a:srgbClr val="F6F4E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Fallido</a:t>
                      </a:r>
                    </a:p>
                  </a:txBody>
                  <a:tcPr marL="133350" marR="133350" marT="114300" marB="1143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 operación no pudo completarse</a:t>
                      </a:r>
                    </a:p>
                  </a:txBody>
                  <a:tcPr marL="133350" marR="133350" marT="114300" marB="1143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Revisar el motivo y reintentar con control</a:t>
                      </a:r>
                    </a:p>
                  </a:txBody>
                  <a:tcPr marL="133350" marR="133350" marT="114300" marB="114300">
                    <a:solidFill>
                      <a:srgbClr val="ECEFE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D72D3-11E3-4D11-B7AC-852C3C97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No se automatizan todos los cruces de tipo, clases multianuales o casos de Guías Mayores.</a:t>
            </a:r>
          </a:p>
        </p:txBody>
      </p:sp>
    </p:spTree>
    <p:extLst>
      <p:ext uri="{BB962C8B-B14F-4D97-AF65-F5344CB8AC3E}">
        <p14:creationId xmlns:p14="http://schemas.microsoft.com/office/powerpoint/2010/main" val="15405846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B81F07-851F-4229-9D00-9D2584D3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Registrar evidencia no equivale a validar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1FA48-966D-41C5-BC01-A975E4CE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F3D2F-451B-4B21-ACA4-F386A594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Presentación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2665A-818C-4B0A-84CF-4ECFCCCF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El archivo se incorpora al proceso correspondiente.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1221A-A146-40C4-AB57-4FD24DEE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Revisión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9F861-4D77-4351-87EF-720B10C1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La persona autorizada evalúa la evidencia.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9BD59-DE80-4DA6-95E9-105E16BB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Decisión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66150-5BA5-4878-B690-B8C44F13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Aprobación o rechazo con su registro.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87800" y="29908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8339"/>
            </a:solidFill>
            <a:head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85100" y="29908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8339"/>
            </a:solidFill>
            <a:head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C0BF2-4777-45DC-AAC7-D269FD2C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Aprobar una evidencia no completa por sí solo la clase ni concede investidura.</a:t>
            </a:r>
          </a:p>
        </p:txBody>
      </p:sp>
    </p:spTree>
    <p:extLst>
      <p:ext uri="{BB962C8B-B14F-4D97-AF65-F5344CB8AC3E}">
        <p14:creationId xmlns:p14="http://schemas.microsoft.com/office/powerpoint/2010/main" val="7957084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F443F-75C0-4C49-B0E5-63C4B240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Una plataforma, dos interfaces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514FA-27BF-4459-A3E4-FFEE9480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2684D-BCB5-4823-A29E-ACFA6B9B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App y panel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041D0-B44A-43B2-A521-3EFCD9A2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Operación móvil y gestión desde navegador.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CB6CA-52D2-4D58-B345-6B2E2C67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API compartida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F4D92-4ED4-435C-ACF4-4A5B66FA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Reglas de negocio y autorización.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6D76D-EE8F-4AB9-B9A2-1D532F95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Datos y archivos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AFB06-5A38-4279-84ED-6FAEB39F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Persistencia e integraciones configuradas.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87800" y="29908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8339"/>
            </a:solidFill>
            <a:head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85100" y="29908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8339"/>
            </a:solidFill>
            <a:head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4858E-615D-46C4-89A1-F1FA1F17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Las interfaces pueden tener distinta cobertura; conectarse a la misma API no garantiza paridad.</a:t>
            </a:r>
          </a:p>
        </p:txBody>
      </p:sp>
    </p:spTree>
    <p:extLst>
      <p:ext uri="{BB962C8B-B14F-4D97-AF65-F5344CB8AC3E}">
        <p14:creationId xmlns:p14="http://schemas.microsoft.com/office/powerpoint/2010/main" val="11898747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1E0D6-8264-42FA-815C-7CDB825A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Límites que acompañan la propuesta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CB9C4-588B-4C4F-8E13-FE9F9E1E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6953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Límite</a:t>
                      </a:r>
                    </a:p>
                  </a:txBody>
                  <a:tcPr marL="133350" marR="133350" marT="114300" marB="114300">
                    <a:solidFill>
                      <a:srgbClr val="18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Implicación para la operación</a:t>
                      </a:r>
                    </a:p>
                  </a:txBody>
                  <a:tcPr marL="133350" marR="133350" marT="114300" marB="114300">
                    <a:solidFill>
                      <a:srgbClr val="183D35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Configuración y datos</a:t>
                      </a:r>
                    </a:p>
                  </a:txBody>
                  <a:tcPr marL="133350" marR="133350" marT="114300" marB="1143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Los permisos y periodos deben revisarse con cuentas reales del piloto.</a:t>
                      </a:r>
                    </a:p>
                  </a:txBody>
                  <a:tcPr marL="133350" marR="133350" marT="114300" marB="114300">
                    <a:solidFill>
                      <a:srgbClr val="F6F4E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Conectividad</a:t>
                      </a:r>
                    </a:p>
                  </a:txBody>
                  <a:tcPr marL="133350" marR="133350" marT="114300" marB="1143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se ofrece aquí una operación completamente offline.</a:t>
                      </a:r>
                    </a:p>
                  </a:txBody>
                  <a:tcPr marL="133350" marR="133350" marT="114300" marB="114300">
                    <a:solidFill>
                      <a:srgbClr val="ECEFE7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Procesos humanos</a:t>
                      </a:r>
                    </a:p>
                  </a:txBody>
                  <a:tcPr marL="133350" marR="133350" marT="114300" marB="1143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 inscripciones autorizadas y validaciones requieren responsables.</a:t>
                      </a:r>
                    </a:p>
                  </a:txBody>
                  <a:tcPr marL="133350" marR="133350" marT="114300" marB="114300">
                    <a:solidFill>
                      <a:srgbClr val="F6F4E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Diferencias entre interfaces</a:t>
                      </a:r>
                    </a:p>
                  </a:txBody>
                  <a:tcPr marL="133350" marR="133350" marT="114300" marB="1143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 inscripción anual está conectada en app; el panel aún no consume ese flujo.</a:t>
                      </a:r>
                    </a:p>
                  </a:txBody>
                  <a:tcPr marL="133350" marR="133350" marT="114300" marB="114300">
                    <a:solidFill>
                      <a:srgbClr val="ECEFE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AFFD2-0044-463B-B50C-7194C158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Antes del piloto: ensayar el entorno, resolver permisos y definir tratamiento de excepciones.</a:t>
            </a:r>
          </a:p>
        </p:txBody>
      </p:sp>
    </p:spTree>
    <p:extLst>
      <p:ext uri="{BB962C8B-B14F-4D97-AF65-F5344CB8AC3E}">
        <p14:creationId xmlns:p14="http://schemas.microsoft.com/office/powerpoint/2010/main" val="7765510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3E23E-A650-40A0-8768-67A7FF23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Piloto propuesto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E2C59-75AB-4EB9-9EA1-B8E61552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D5ECB-5E33-464F-8813-6E66BFC7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Alcance acotado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0CAA1-57E7-4BA7-B0D4-2EE9C0D4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952625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Seleccionar secciones y responsables institucionales.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6C714-B84E-4B38-B26A-9A37C17C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Recorridos críticos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3BA21-ACAD-4E2D-A207-72AE36F4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3370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Ensayar ingreso, inscripción anual y revisión de evidencias.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78E44-DD7E-4EB9-B30F-8DB22275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Controles de acceso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5FA8A-D3DF-44E0-8CC0-5DE68E17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914775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Probar acciones permitidas y denegadas con cuentas distintas.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CDDA7-4875-4C6F-BAB0-F842E655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Evaluación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68F4F-F60E-4F54-8884-A69C924F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89585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Registrar incidencias, tiempos reales y necesidades de capacitación.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C7332-D321-45A4-A1CA-5914C858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Propuesta de adopción: el alcance, las fechas y los responsables se acuerdan con la Unión.</a:t>
            </a:r>
          </a:p>
        </p:txBody>
      </p:sp>
    </p:spTree>
    <p:extLst>
      <p:ext uri="{BB962C8B-B14F-4D97-AF65-F5344CB8AC3E}">
        <p14:creationId xmlns:p14="http://schemas.microsoft.com/office/powerpoint/2010/main" val="10127057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83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D430A-2725-436B-92A8-24B0AC66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Decisiones para iniciar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B9126-DE40-4291-B3B0-925D2D33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4D3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4D3CA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A05DC-C346-4A88-A556-51D7CFB7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09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Definir el piloto y sus responsables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C92AA-37C9-449F-A9FD-2577EA78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001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CE7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DCE7DC"/>
                </a:solidFill>
                <a:latin typeface="Helvetica Neue"/>
                <a:ea typeface="Helvetica Neue"/>
                <a:cs typeface="Helvetica Neue"/>
              </a:rPr>
              <a:t>Acordar qué secciones participan, qué procesos se demostrarán y quién resolverá las excepciones del ciclo anual.</a:t>
            </a:r>
          </a:p>
        </p:txBody>
      </p:sp>
    </p:spTree>
    <p:extLst>
      <p:ext uri="{BB962C8B-B14F-4D97-AF65-F5344CB8AC3E}">
        <p14:creationId xmlns:p14="http://schemas.microsoft.com/office/powerpoint/2010/main" val="15968754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2026-09-14T15:39:02.6340000Z</dcterms:created>
  <dcterms:modified xsi:type="dcterms:W3CDTF">2026-09-14T15:39:02.6340000Z</dcterms:modified>
</coreProperties>
</file>