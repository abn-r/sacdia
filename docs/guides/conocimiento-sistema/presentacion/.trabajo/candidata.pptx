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f1efbddef34146" /><Relationship Type="http://schemas.openxmlformats.org/officeDocument/2006/relationships/extended-properties" Target="/docProps/app.xml" Id="R04efcae2a5bd4e11" /><Relationship Type="http://schemas.openxmlformats.org/officeDocument/2006/relationships/officeDocument" Target="/ppt/presentation.xml" Id="R3490e7029c294b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b71570c57549f0"/>
  </p:sldMasterIdLst>
  <p:notesMasterIdLst>
    <p:notesMasterId xmlns:r="http://schemas.openxmlformats.org/officeDocument/2006/relationships" r:id="Re33a13cd9af74351"/>
  </p:notesMasterIdLst>
  <p:sldIdLst>
    <p:sldId xmlns:r="http://schemas.openxmlformats.org/officeDocument/2006/relationships" id="256" r:id="R772a2016a4f44437"/>
    <p:sldId xmlns:r="http://schemas.openxmlformats.org/officeDocument/2006/relationships" id="257" r:id="Rd0dd762f8c704b0c"/>
    <p:sldId xmlns:r="http://schemas.openxmlformats.org/officeDocument/2006/relationships" id="258" r:id="Re7ad935876954201"/>
    <p:sldId xmlns:r="http://schemas.openxmlformats.org/officeDocument/2006/relationships" id="259" r:id="Rfeaba7057de647b6"/>
    <p:sldId xmlns:r="http://schemas.openxmlformats.org/officeDocument/2006/relationships" id="260" r:id="R85d9feea10644e12"/>
    <p:sldId xmlns:r="http://schemas.openxmlformats.org/officeDocument/2006/relationships" id="261" r:id="Recfd643e56ec4e1c"/>
    <p:sldId xmlns:r="http://schemas.openxmlformats.org/officeDocument/2006/relationships" id="262" r:id="R96cbc2b447914eab"/>
    <p:sldId xmlns:r="http://schemas.openxmlformats.org/officeDocument/2006/relationships" id="263" r:id="R49280df0f7eb4eee"/>
    <p:sldId xmlns:r="http://schemas.openxmlformats.org/officeDocument/2006/relationships" id="264" r:id="Re483430d664f43b3"/>
    <p:sldId xmlns:r="http://schemas.openxmlformats.org/officeDocument/2006/relationships" id="265" r:id="Re08c75ceaf0c4294"/>
    <p:sldId xmlns:r="http://schemas.openxmlformats.org/officeDocument/2006/relationships" id="266" r:id="R216c803b4bfb4686"/>
    <p:sldId xmlns:r="http://schemas.openxmlformats.org/officeDocument/2006/relationships" id="267" r:id="Rc927efb12ba94dda"/>
    <p:sldId xmlns:r="http://schemas.openxmlformats.org/officeDocument/2006/relationships" id="268" r:id="R4852763ae3c14ee5"/>
    <p:sldId xmlns:r="http://schemas.openxmlformats.org/officeDocument/2006/relationships" id="269" r:id="R0a389886d6534bd4"/>
    <p:sldId xmlns:r="http://schemas.openxmlformats.org/officeDocument/2006/relationships" id="270" r:id="Re10f47e415d14f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238ea389624fa1" /><Relationship Type="http://schemas.openxmlformats.org/officeDocument/2006/relationships/slideMaster" Target="/ppt/slideMasters/slideMaster1.xml" Id="Re1b71570c57549f0" /><Relationship Type="http://schemas.openxmlformats.org/officeDocument/2006/relationships/notesMaster" Target="/ppt/notesMasters/notesMaster1.xml" Id="Re33a13cd9af74351" /><Relationship Type="http://schemas.openxmlformats.org/officeDocument/2006/relationships/presProps" Target="/ppt/presProps.xml" Id="R58d47405deab44cf" /><Relationship Type="http://schemas.openxmlformats.org/officeDocument/2006/relationships/tableStyles" Target="/ppt/tableStyles.xml" Id="Rb4d30f9cb4004b72" /><Relationship Type="http://schemas.openxmlformats.org/officeDocument/2006/relationships/slide" Target="/ppt/slides/slide1.xml" Id="R772a2016a4f44437" /><Relationship Type="http://schemas.openxmlformats.org/officeDocument/2006/relationships/slide" Target="/ppt/slides/slide2.xml" Id="Rd0dd762f8c704b0c" /><Relationship Type="http://schemas.openxmlformats.org/officeDocument/2006/relationships/slide" Target="/ppt/slides/slide3.xml" Id="Re7ad935876954201" /><Relationship Type="http://schemas.openxmlformats.org/officeDocument/2006/relationships/slide" Target="/ppt/slides/slide4.xml" Id="Rfeaba7057de647b6" /><Relationship Type="http://schemas.openxmlformats.org/officeDocument/2006/relationships/slide" Target="/ppt/slides/slide5.xml" Id="R85d9feea10644e12" /><Relationship Type="http://schemas.openxmlformats.org/officeDocument/2006/relationships/slide" Target="/ppt/slides/slide6.xml" Id="Recfd643e56ec4e1c" /><Relationship Type="http://schemas.openxmlformats.org/officeDocument/2006/relationships/slide" Target="/ppt/slides/slide7.xml" Id="R96cbc2b447914eab" /><Relationship Type="http://schemas.openxmlformats.org/officeDocument/2006/relationships/slide" Target="/ppt/slides/slide8.xml" Id="R49280df0f7eb4eee" /><Relationship Type="http://schemas.openxmlformats.org/officeDocument/2006/relationships/slide" Target="/ppt/slides/slide9.xml" Id="Re483430d664f43b3" /><Relationship Type="http://schemas.openxmlformats.org/officeDocument/2006/relationships/slide" Target="/ppt/slides/slide10.xml" Id="Re08c75ceaf0c4294" /><Relationship Type="http://schemas.openxmlformats.org/officeDocument/2006/relationships/slide" Target="/ppt/slides/slide11.xml" Id="R216c803b4bfb4686" /><Relationship Type="http://schemas.openxmlformats.org/officeDocument/2006/relationships/slide" Target="/ppt/slides/slide12.xml" Id="Rc927efb12ba94dda" /><Relationship Type="http://schemas.openxmlformats.org/officeDocument/2006/relationships/slide" Target="/ppt/slides/slide13.xml" Id="R4852763ae3c14ee5" /><Relationship Type="http://schemas.openxmlformats.org/officeDocument/2006/relationships/slide" Target="/ppt/slides/slide14.xml" Id="R0a389886d6534bd4" /><Relationship Type="http://schemas.openxmlformats.org/officeDocument/2006/relationships/slide" Target="/ppt/slides/slide15.xml" Id="Re10f47e415d14f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77f2e5d77d4f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f2a4bde7804bb8" /><Relationship Type="http://schemas.openxmlformats.org/officeDocument/2006/relationships/notesMaster" Target="/ppt/notesMasters/notesMaster1.xml" Id="Rf71c90df0cc44a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c76f373f074fe1" /><Relationship Type="http://schemas.openxmlformats.org/officeDocument/2006/relationships/notesMaster" Target="/ppt/notesMasters/notesMaster1.xml" Id="R4caf1b6027a040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927a0ec6f048bf" /><Relationship Type="http://schemas.openxmlformats.org/officeDocument/2006/relationships/notesMaster" Target="/ppt/notesMasters/notesMaster1.xml" Id="R753b1c7f21d04a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b9538a6a794f91" /><Relationship Type="http://schemas.openxmlformats.org/officeDocument/2006/relationships/notesMaster" Target="/ppt/notesMasters/notesMaster1.xml" Id="R26f6297a35db46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e9976a8d22439c" /><Relationship Type="http://schemas.openxmlformats.org/officeDocument/2006/relationships/notesMaster" Target="/ppt/notesMasters/notesMaster1.xml" Id="R820d95dd409f48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5eba8f4abb4401" /><Relationship Type="http://schemas.openxmlformats.org/officeDocument/2006/relationships/notesMaster" Target="/ppt/notesMasters/notesMaster1.xml" Id="Rf062b1ae230942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93490d219f4a3c" /><Relationship Type="http://schemas.openxmlformats.org/officeDocument/2006/relationships/notesMaster" Target="/ppt/notesMasters/notesMaster1.xml" Id="R9ffe6955ddec4c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88433b639e4c25" /><Relationship Type="http://schemas.openxmlformats.org/officeDocument/2006/relationships/notesMaster" Target="/ppt/notesMasters/notesMaster1.xml" Id="R511e2c43c89149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7fab26fdc94b7b" /><Relationship Type="http://schemas.openxmlformats.org/officeDocument/2006/relationships/notesMaster" Target="/ppt/notesMasters/notesMaster1.xml" Id="R45f39c4165b447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000ca76a694fb0" /><Relationship Type="http://schemas.openxmlformats.org/officeDocument/2006/relationships/notesMaster" Target="/ppt/notesMasters/notesMaster1.xml" Id="R9efcfca9c0324b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270bef927e4a45" /><Relationship Type="http://schemas.openxmlformats.org/officeDocument/2006/relationships/notesMaster" Target="/ppt/notesMasters/notesMaster1.xml" Id="R886d9f3d786646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47bf77e22e4049" /><Relationship Type="http://schemas.openxmlformats.org/officeDocument/2006/relationships/notesMaster" Target="/ppt/notesMasters/notesMaster1.xml" Id="Rf5d0e708754e4b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eed938eb974ee0" /><Relationship Type="http://schemas.openxmlformats.org/officeDocument/2006/relationships/notesMaster" Target="/ppt/notesMasters/notesMaster1.xml" Id="R49bad5bd6a654d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446ad461d14676" /><Relationship Type="http://schemas.openxmlformats.org/officeDocument/2006/relationships/notesMaster" Target="/ppt/notesMasters/notesMaster1.xml" Id="R71f8633ff53347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c50659b5ed4350" /><Relationship Type="http://schemas.openxmlformats.org/officeDocument/2006/relationships/notesMaster" Target="/ppt/notesMasters/notesMaster1.xml" Id="Re9b9ac823bba43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presentar qué organiza SACDIA, quién interviene y qué requiere su adopción. Duración sugerida: 15 minutos. Audiencia: dirección de jóvenes de Unión Mexicana Interoceánica. Portada: imagen conceptual, no fotografía de un evento real. Corte de análisis: 14 de septiembre de 2026. PPTX congelado en semana 3 (15 láminas). No certifica 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concentrado docs/guides/conocimiento-sistema/; docs/canon/identidad-sacdia.md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SACDIA no es solo una app ni una biblioteca. Su propósito es conservar contexto institucional. Presentar esto como alcance del producto; la cobertura operativa de cada módulo se confirma antes del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/Users/abner/Documents/development/sacdia/docs/canon/identidad-sacdia.md; /Users/abner/Documents/development/sacdia/docs/canon/dominio-sacdia.md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flechas expresan contexto organizacional, no una secuencia de trámites. Un club no es sinónimo de cada sección. Una persona puede conservar su cuenta y su historial sin estar inscrita en el periodo actual.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/Users/abner/Documents/development/sacdia/docs/canon/dominio-sacdia.md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sustituir estas condiciones por promesas de automatización total. El valor depende tanto de las reglas del sistema como de responsables que mantengan los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/Users/abner/Documents/development/sacdia/docs/canon/identidad-sacdia.md; /Users/abner/Documents/development/sacdia/docs/guides/conocimiento-sistema/01-fundamentos.md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una síntesis de responsabilidades, no una asignación automática a personas ni una certificación de la base de producción. La matriz técnica distingue rutas, bypasses y permisos configurables.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/Users/abner/Documents/development/sacdia/docs/guides/conocimiento-sistema/05-matriz-roles-verificada.md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Explicación conceptual: no todos los endpoints ejecutan los controles en idéntico orden. Las asignaciones y permisos son datos configurables. No atribuir al director de Unión el rol técnico admin por el título de su cargo.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/Users/abner/Documents/development/sacdia/docs/guides/conocimiento-sistema/05-matriz-roles-verificada.md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Recorrido: autenticación → wizard → membresía pending y enrollment de clase → aprobación. No afirmar correo verificado como requisito del wizard: bloqueo no confirmado. Menores requieren representante legal. La solicitud puede rechazarse, cancelarse o vencer. Fuentes: /Users/abner/Documents/development/sacdia/docs/guides/conocimiento-sistema/06-ingreso-inicial.md; /Users/abner/Documents/development/sacdia/sacdia-backend/src/post-registration/post-registration.service.ts:239-355,459-579; /Users/abner/Documents/development/sacdia/sacdia-backend/src/membership-requests/membership-requests.service.ts:68-201.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corte NO inscribe ni crea clases: puede preparar member inactive del nuevo año. Directiva o actor autorizado necesita club_members:approve sobre sección destino. No es copiar roster anterior. Director en otra sección no es miembro ya inscrito aquí. Conectado en app; no consumo annual-continuations en admin/src. Fuentes: /Users/abner/Documents/development/sacdia/docs/guides/conocimiento-sistema/07-inscripcion-anual.md; /Users/abner/Documents/development/sacdia/sacdia-backend/src/annual-membership/annual-continuations.controller.ts:36-118; /Users/abner/Documents/development/sacdia/sacdia-backend/src/year-cut/year-cut.service.ts:199-324.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POST: enrolled, already_enrolled, blocked y failed por persona. Cada persona tiene transacción; lote puede terminar parcialmente. Bloqueo de clase revierte su activación. Annual avanza por trayectoria del mismo tipo, no regla universal por edad. D01/D02 pendientes en documentación. La app permite seleccionar suggested_class bloqueada y recibe error al POST. Fuentes: /Users/abner/Documents/development/sacdia/docs/guides/conocimiento-sistema/07-inscripcion-anual.md; /Users/abner/Documents/development/sacdia/sacdia-backend/src/annual-membership/annual-membership.service.ts:254-526.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Tres circuitos distintos si preguntan: clase/investidura (ficha 08), especialidad (09), certificación electiva (10). La carpeta anual NO es esa cola (ficha 12). No afirmar que subir cualquier archivo lo envía a revisión. Demostrar solo un recorrido ensayado.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02-revision-evidencias.md; 08-clases-progresivas.md; 09-honores.md; 10-certificaciones.md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Lámina de audiencia. Detalle en fichas 11 y 12. No abrir scoring de jueces, pedidos de playeras ni SLA. Flag de órdenes de pago: ON bloquea el register directo. Informes: draft→generated→submitted, sin approved. Carpeta: confirm-union solo director-union/assistant-union.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11-camporees.md; 12-supervision-institucional.md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lógico ejecutivo, no arquitectura de despliegue. Backend NestJS modular; app Flutter; panel Next.js. No prometer disponibilidad o capacidad a partir de esta estructura.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/Users/abner/Documents/development/sacdia/docs/guides/conocimiento-sistema/04-arquitectura-tecnica.md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certifica despliegue, seguridad integral ni un SLA contractual. El dashboard SLA es otra superficie (admin/coordinator), no el home de Unión. Finanzas/inventario: ficha 13, no el demo. Hallazgos de interfaces: ingreso y ciclo 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04-arquitectura-tecnica.md; 07-inscripcion-anual.md; 12-supervision-institucional.md; 13-operacion-seccion.md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es compromiso comercial ni fecha de lanzamiento. Criterios: casos de error, no solo happy path. Recortar el piloto a lo que el ensayo ficticio ya recorrió en verde (ensayo-cuentas-ficticias.md).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acuerdos concretos, no roll-out nacional. Antes de la cita: ensayo con cuentas ficticias, año vigente, flag de órdenes de pago anotado. No hay presupuesto ni plazo en esta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5036dcf4d49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bebc0807df44dc" /><Relationship Type="http://schemas.openxmlformats.org/officeDocument/2006/relationships/slideLayout" Target="/ppt/slideLayouts/slideLayout1.xml" Id="R4d14906808184b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14906808184b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efce38fd740a6" /><Relationship Type="http://schemas.openxmlformats.org/officeDocument/2006/relationships/image" Target="/ppt/media/image.png" Id="R231d7a2934034a06" /><Relationship Type="http://schemas.openxmlformats.org/officeDocument/2006/relationships/notesSlide" Target="/ppt/notesSlides/notesSlide1.xml" Id="R3b526f4ec11e40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090e346d74a95" /><Relationship Type="http://schemas.openxmlformats.org/officeDocument/2006/relationships/notesSlide" Target="/ppt/notesSlides/notesSlide2.xml" Id="Rb1aedfc92dbe4e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c7f9a6dcd40bf" /><Relationship Type="http://schemas.openxmlformats.org/officeDocument/2006/relationships/notesSlide" Target="/ppt/notesSlides/notesSlide3.xml" Id="R6d01f1ee92dc41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18d336c8442ed" /><Relationship Type="http://schemas.openxmlformats.org/officeDocument/2006/relationships/notesSlide" Target="/ppt/notesSlides/notesSlide4.xml" Id="Rf33edd990a854e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b7ba4fb5243a3" /><Relationship Type="http://schemas.openxmlformats.org/officeDocument/2006/relationships/notesSlide" Target="/ppt/notesSlides/notesSlide5.xml" Id="Rffb88d7fc53842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11bdad0734c58" /><Relationship Type="http://schemas.openxmlformats.org/officeDocument/2006/relationships/notesSlide" Target="/ppt/notesSlides/notesSlide6.xml" Id="R5e535ee1201d46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f58934e9a4fce" /><Relationship Type="http://schemas.openxmlformats.org/officeDocument/2006/relationships/notesSlide" Target="/ppt/notesSlides/notesSlide7.xml" Id="R1a61f005094141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19a29fd5145e7" /><Relationship Type="http://schemas.openxmlformats.org/officeDocument/2006/relationships/notesSlide" Target="/ppt/notesSlides/notesSlide8.xml" Id="R6577f4030e054c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b0314a8764dcd" /><Relationship Type="http://schemas.openxmlformats.org/officeDocument/2006/relationships/notesSlide" Target="/ppt/notesSlides/notesSlide9.xml" Id="R7bf7bef1507d42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30d06b77244a3" /><Relationship Type="http://schemas.openxmlformats.org/officeDocument/2006/relationships/notesSlide" Target="/ppt/notesSlides/notesSlide10.xml" Id="Rd3bc12343bf24e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03dc6c82b4841" /><Relationship Type="http://schemas.openxmlformats.org/officeDocument/2006/relationships/notesSlide" Target="/ppt/notesSlides/notesSlide11.xml" Id="R9875cb3b4b754d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6d417c40f40a6" /><Relationship Type="http://schemas.openxmlformats.org/officeDocument/2006/relationships/notesSlide" Target="/ppt/notesSlides/notesSlide12.xml" Id="R04d34f9ee0d947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b3f460bfd4758" /><Relationship Type="http://schemas.openxmlformats.org/officeDocument/2006/relationships/notesSlide" Target="/ppt/notesSlides/notesSlide13.xml" Id="Re9912dbda7e14f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0b534f8f54616" /><Relationship Type="http://schemas.openxmlformats.org/officeDocument/2006/relationships/notesSlide" Target="/ppt/notesSlides/notesSlide14.xml" Id="Rb0c128067cdd46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61b34ae574874" /><Relationship Type="http://schemas.openxmlformats.org/officeDocument/2006/relationships/notesSlide" Target="/ppt/notesSlides/notesSlide15.xml" Id="Ra99f7563149748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d7a2934034a0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FB198-4203-438C-AFC2-7593854E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SACDIA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C6D8E-5CA9-417A-A708-D256CDD3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Administración y seguimiento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 los clubes juveniles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ED250-72B7-4C97-8E76-EC77F4A4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4EB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4EBDD"/>
                </a:solidFill>
                <a:latin typeface="Helvetica Neue"/>
                <a:ea typeface="Helvetica Neue"/>
                <a:cs typeface="Helvetica Neue"/>
              </a:rPr>
              <a:t>Unión Mexicana Interoceánica</a:t>
            </a:r>
          </a:p>
        </p:txBody>
      </p:sp>
    </p:spTree>
    <p:extLst>
      <p:ext uri="{BB962C8B-B14F-4D97-AF65-F5344CB8AC3E}">
        <p14:creationId xmlns:p14="http://schemas.microsoft.com/office/powerpoint/2010/main" val="822676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D272E-FC91-4BE5-8BF6-D8F29E11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Qué organiza SACDIA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FF2D6-4047-44C7-B1CD-6A4C18F1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088AD-CF04-4A11-B7E0-07D8996F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Personas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2C67F-B96A-4265-9F09-480E5292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952625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Participación, responsabilidades y trayectoria institucional.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E2267-BA98-4B52-B800-A6FC10EB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Secciones de club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B3995-AAD6-449C-8F0C-39203734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337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 operación de Aventureros, Conquistadores y Guías Mayores.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27E2C-2853-436F-B244-47D524D2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Formación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EED1B-5D6A-487E-B2F9-57CEAE08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14775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Avances y evidencias que requieren revisión y reconocimiento.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CD9C6-86B2-4937-AC89-40F439B0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Periodos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D36BE-E5E4-4C07-AB69-C8D18F26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8958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 contexto anual de membresía y cargos.</a:t>
            </a:r>
          </a:p>
        </p:txBody>
      </p:sp>
    </p:spTree>
    <p:extLst>
      <p:ext uri="{BB962C8B-B14F-4D97-AF65-F5344CB8AC3E}">
        <p14:creationId xmlns:p14="http://schemas.microsoft.com/office/powerpoint/2010/main" val="891321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B420F-C216-4006-BDFE-A07D53AD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Club, sección y periodo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29FA9-70D6-4CCB-BB11-AC1B2FDE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1FDBB-8C2E-49DE-A93C-C384591E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Club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C8FB1-D722-451C-A661-A1F1B813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Identidad institucional que continúa.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3B267-BD38-4C5D-979F-08F15B49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Sección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E40D4-9DE0-42EB-9EDE-05FF99F3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Unidad donde se organiza la operación.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D4051-A5B8-45D2-85F8-2D058BE0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Año eclesiástico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99DA1-683D-4BE8-825A-6B5D4C80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Contexto de inscripción y responsabilidades.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878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51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92E3A-022A-4BAB-BA95-E8FAB1C9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Ejemplo ficticio: Panteras → Panteras · Conquistadores → año vigente.</a:t>
            </a:r>
          </a:p>
        </p:txBody>
      </p:sp>
    </p:spTree>
    <p:extLst>
      <p:ext uri="{BB962C8B-B14F-4D97-AF65-F5344CB8AC3E}">
        <p14:creationId xmlns:p14="http://schemas.microsoft.com/office/powerpoint/2010/main" val="275034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672F8-BE54-4304-B91E-A6E366BC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Beneficios esperados y sus condiciones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A8E5D-3405-4903-A446-8F6330B8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3905250"/>
                <a:gridCol w="3781425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Beneficio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Mecanismo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Condición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Información reunida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Registros compartidos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Mantener los datos al día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Responsabilidades claras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Permisos por operación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Configurar cargos y cuentas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Avance visible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Evidencias y decisiones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Atender revisiones y rechazos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Continuidad anual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Cuenta, cargo e inscripción separados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Ejecutar el ciclo anual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8E7F7-3D7A-46DF-918B-707F68FA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Son beneficios cualitativos; no se presentan porcentajes de ahorro ni capacidad medida.</a:t>
            </a:r>
          </a:p>
        </p:txBody>
      </p:sp>
    </p:spTree>
    <p:extLst>
      <p:ext uri="{BB962C8B-B14F-4D97-AF65-F5344CB8AC3E}">
        <p14:creationId xmlns:p14="http://schemas.microsoft.com/office/powerpoint/2010/main" val="164657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C1D33-50C2-4C66-AB78-62A7D02A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Responsabilidades en la operación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09EE4-0007-4CE4-842E-AFF471F1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191000"/>
                <a:gridCol w="3781425"/>
              </a:tblGrid>
              <a:tr h="555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Actor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Responsabilidad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Condición de acceso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Miembro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Datos propios y participación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Identidad y recursos propios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Directiva de sección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Gestión de miembros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Permiso y sección vigente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Revisor autorizado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Decisión sobre evidencias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 y permiso de revisión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Campo / Unión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Supervisión territorial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Territorio y permisos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Administración técnica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Configuración de accesos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Facultades específicas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DAC59-53DA-40CA-A17F-AAFCBA28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Un cargo institucional no concede acceso universal ni reemplaza los permisos.</a:t>
            </a:r>
          </a:p>
        </p:txBody>
      </p:sp>
    </p:spTree>
    <p:extLst>
      <p:ext uri="{BB962C8B-B14F-4D97-AF65-F5344CB8AC3E}">
        <p14:creationId xmlns:p14="http://schemas.microsoft.com/office/powerpoint/2010/main" val="1642710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CB1F7-7C86-40AE-B7B4-833B5CD6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El acceso depende del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E0DAB-4DC9-4ABD-A9C9-DAE1BB04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E562C-8895-47BA-B895-62F558AC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Lo que el sistema comprueba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8F201-77F9-4081-804E-C2B14E79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Identidad y permisos.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Sección o territorio del recurso.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Vigencia de la responsabilidad.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397E9-0564-480B-B1DB-773B5E76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Lo que no concede acceso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550ED-101C-49F1-8F04-918AB149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62275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Conocer un identificador.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Ver un botón o un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Haber tenido el cargo otro año.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D6DF7-8F6D-4D75-8658-1E3A341A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El backend decide; las pantallas no sustituyen sus controles.</a:t>
            </a:r>
          </a:p>
        </p:txBody>
      </p:sp>
    </p:spTree>
    <p:extLst>
      <p:ext uri="{BB962C8B-B14F-4D97-AF65-F5344CB8AC3E}">
        <p14:creationId xmlns:p14="http://schemas.microsoft.com/office/powerpoint/2010/main" val="1905433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479FC-FEE9-4DD9-9560-B4E6E342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Ingreso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3573E-4404-4336-990E-C6FF0A07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D270B-3A8D-49B6-AB05-C8C217E0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Cuenta y perfil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91ADA-D7B8-4CCB-B63A-D12F2283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Foto, datos personales, contacto y representante si aplica.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99A94-563F-48A5-8DD0-73A721BC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Solicitud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F9D9E-AB0D-44F0-BCDD-AB6EE7FC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Territorio, club y sección; la clase la resuelve el backend.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4F24E-9D5B-489A-B8C8-C091772E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Aprobación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2137C-05EE-446F-819B-0D2CDD07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 directiva autorizada decide si activa la membresía.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878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51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31D0D-C5E2-494B-BA8D-F170338E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Completar el formulario deja la membresía pendiente, no activa.</a:t>
            </a:r>
          </a:p>
        </p:txBody>
      </p:sp>
    </p:spTree>
    <p:extLst>
      <p:ext uri="{BB962C8B-B14F-4D97-AF65-F5344CB8AC3E}">
        <p14:creationId xmlns:p14="http://schemas.microsoft.com/office/powerpoint/2010/main" val="3651210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12FE7-F9D5-4308-BE3E-018C6F38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Inscripción en el año vigente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0A270-2A79-4172-ACA1-4978C0E6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DFCAA-3BB2-4013-9A7C-354167B1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Corte de año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B4613-C8DB-4B5C-BA01-460E5BED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Cierra cargos vencidos y procesa sucesores programados.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CD07D-E492-47D4-97C0-BBA3F7E2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No inscritos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65697-35A1-4A85-A836-D0A2CF60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 directiva consulta a quién falta inscribir en su sección.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2CDCD-2907-463F-BA2F-B9C00F1F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Inscripción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81F25-32B9-440A-B392-70AE1127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Activa membresía y resuelve la clase aplicable en una transacción.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878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51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FFBBC-7EAD-4947-87AB-CD2AD7AB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La cuenta continúa. Los cargos no se copian y el titular no puede autoinscribirse.</a:t>
            </a:r>
          </a:p>
        </p:txBody>
      </p:sp>
    </p:spTree>
    <p:extLst>
      <p:ext uri="{BB962C8B-B14F-4D97-AF65-F5344CB8AC3E}">
        <p14:creationId xmlns:p14="http://schemas.microsoft.com/office/powerpoint/2010/main" val="23717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5F353-FE0F-4BDA-818A-650851FD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Resultados y excepciones del ciclo anual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58EAF-A4EC-4863-957E-870557D0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000500"/>
                <a:gridCol w="3638550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Resultado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Significado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Acción del responsable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Inscrito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Inscripción completada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Verificar el resultado del lote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 inscrito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 pertenencia ya estaba activa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duplicar la operación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Bloqueado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 política impide continuar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Resolver requisitos o excepción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Fallido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 operación no pudo completarse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Revisar motivo y reintento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D224D-37C5-45E8-96DF-F6E7EC37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No se automatizan todos los cruces de tipo, clases multianuales o casos de Guías Mayores.</a:t>
            </a:r>
          </a:p>
        </p:txBody>
      </p:sp>
    </p:spTree>
    <p:extLst>
      <p:ext uri="{BB962C8B-B14F-4D97-AF65-F5344CB8AC3E}">
        <p14:creationId xmlns:p14="http://schemas.microsoft.com/office/powerpoint/2010/main" val="4044393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77DBC-ED6A-44F1-80C4-8EF02D23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Registrar evidencia no equivale a validar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5457A-CA19-4499-B400-D7145411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E161D-B089-4A21-879B-7201AFB6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Presentación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49093-2E09-4CF8-B08D-306E03E6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 archivo se incorpora al proceso correspondiente.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E5DD1-9715-4C60-9629-77EAF6B9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Revisión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1DE81-E4F5-4CEB-9846-98723EBF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La persona autorizada evalúa la evidencia.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1AB15-3359-4B5D-BEE2-57136634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Decisión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989C9-064D-4D8D-A3F5-1C377DC5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Aprobación o rechazo con su registro.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878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51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3514A-4C9E-4738-A4E8-5515C7A6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Aprobar una evidencia no completa por sí solo la clase ni concede investidura.</a:t>
            </a:r>
          </a:p>
        </p:txBody>
      </p:sp>
    </p:spTree>
    <p:extLst>
      <p:ext uri="{BB962C8B-B14F-4D97-AF65-F5344CB8AC3E}">
        <p14:creationId xmlns:p14="http://schemas.microsoft.com/office/powerpoint/2010/main" val="5325698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41704-1652-4D1F-9E67-A0C9A4D0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Lo que corresponde a Unión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39BC1-029E-431E-B3EC-35F21FAE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F350A-1452-4D98-A4AE-2A36C4B1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Camporee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91958-F826-4C6C-A3CC-12BE4BA1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952625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Local y de unión son distintos. Inscribir la sección no inscribe personas.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9D863-AF9F-4C98-A2B8-C8EBB923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Cobro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46F12-CDF4-4B4A-BD36-B51B6B99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337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 campo recauda. El traslado campo–unión queda fuera del sistema.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A4073-7419-4241-855A-3079093A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Carpeta 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1F84C-5BE4-4B47-9FC2-DD943EDA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14775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El campo califica. Unión confirma solo si el folder lo exige.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A9D57-3248-430E-82B3-53B696E1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Informes y tablero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78BCA-A43D-4FA4-A7F1-1136094C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8958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Se consulta cobertura y PDF. No hay sello de aprobación ni vista SLA.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09987-89B1-465B-A068-AF98780E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El coordinador de zona no aprueba camporee. El home de Unión es el tablero operativo.</a:t>
            </a:r>
          </a:p>
        </p:txBody>
      </p:sp>
    </p:spTree>
    <p:extLst>
      <p:ext uri="{BB962C8B-B14F-4D97-AF65-F5344CB8AC3E}">
        <p14:creationId xmlns:p14="http://schemas.microsoft.com/office/powerpoint/2010/main" val="13843132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995E7-E77B-4758-AE77-BE540C78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Una plataforma, dos interfaces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021B7-ADCB-414D-BC06-D3B88668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69BB1-800E-4397-AB53-8B0CADCC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App y panel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9FB9B-2A98-4891-AB4D-1D8B7505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Operación móvil y gestión desde navegador.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A8E5B-9FDF-4BC8-BFEF-1E24CDF8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API compartida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73601-54FC-4927-8704-2BD31A15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Reglas de negocio y autorización.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994B5-7BDE-4103-B41E-C934C46B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76500"/>
            <a:ext cx="3378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1"/>
          </a:solidFill>
          <a:ln xmlns:a="http://schemas.openxmlformats.org/drawingml/2006/main" w="9525">
            <a:solidFill>
              <a:srgbClr val="86A09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Datos y archivos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C689A-D11D-471B-8332-2DE7D4F5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695700"/>
            <a:ext cx="337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Persistencia e integraciones configuradas.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878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5100" y="29908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8339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F3DD3-24D3-41FC-A3EB-B4C71E20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Las interfaces pueden tener distinta cobertura; conectarse a la misma API no garantiza paridad.</a:t>
            </a:r>
          </a:p>
        </p:txBody>
      </p:sp>
    </p:spTree>
    <p:extLst>
      <p:ext uri="{BB962C8B-B14F-4D97-AF65-F5344CB8AC3E}">
        <p14:creationId xmlns:p14="http://schemas.microsoft.com/office/powerpoint/2010/main" val="16497065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9CEDA-D796-48A3-A84E-6DAC2245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Límites que acompañan la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DF053-2B0F-4B7C-ABBB-F33E5CB0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Límite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Implicación para la operación</a:t>
                      </a:r>
                    </a:p>
                  </a:txBody>
                  <a:tcPr marL="133350" marR="133350" marT="76200" marB="76200">
                    <a:solidFill>
                      <a:srgbClr val="183D3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Configuración y datos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 permisos y periodos deben revisarse con cuentas reales del piloto.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Fuera de esta sesión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Finanzas, inventario, ranking y SLA del coordinador existen; no se demuestran hoy.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Procesos humanos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 inscripciones autorizadas y validaciones requieren responsables.</a:t>
                      </a:r>
                    </a:p>
                  </a:txBody>
                  <a:tcPr marL="133350" marR="133350" marT="76200" marB="76200">
                    <a:solidFill>
                      <a:srgbClr val="F6F4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Diferencias entre interfaces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45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 inscripción anual está conectada en app; el panel aún no consume ese flujo.</a:t>
                      </a:r>
                    </a:p>
                  </a:txBody>
                  <a:tcPr marL="133350" marR="133350" marT="76200" marB="76200">
                    <a:solidFill>
                      <a:srgbClr val="ECEFE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628FA-AE78-4CEF-B788-53A0FB85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Antes del piloto: ensayar el entorno, resolver permisos y definir tratamiento de excepciones.</a:t>
            </a:r>
          </a:p>
        </p:txBody>
      </p:sp>
    </p:spTree>
    <p:extLst>
      <p:ext uri="{BB962C8B-B14F-4D97-AF65-F5344CB8AC3E}">
        <p14:creationId xmlns:p14="http://schemas.microsoft.com/office/powerpoint/2010/main" val="20988714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CD94A-01FC-4ECA-892C-C4A67CD7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Piloto propuesto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D4D0F-CD44-4789-80F0-0E1E2F9C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7605B-3042-4678-91AD-2324EDE9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Alcance acotado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BEC73-611B-40CC-96D7-E61BDA2E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952625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Seleccionar secciones y responsables institucionales.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E6AC1-B389-48DA-A2FB-A2B5F6ED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Recorridos críticos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D404D-DB18-42CC-9103-ABBE6E0D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337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Ingreso, inscripción anual y una evidencia. Camporee o carpeta solo si el entorno ya los tiene.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70F16-8639-404B-8D97-24FC1010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Controles de acceso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997DE-DACE-47AF-815E-D9A015A3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14775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Probar acciones permitidas y denegadas con cuentas distintas.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33375-8812-4282-A0DB-754B9FFE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809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3D35"/>
                </a:solidFill>
                <a:latin typeface="Helvetica Neue"/>
                <a:ea typeface="Helvetica Neue"/>
                <a:cs typeface="Helvetica Neue"/>
              </a:rPr>
              <a:t>Evaluación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B6E8F-6CF0-4F32-B614-7DE602DD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8958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3453F"/>
                </a:solidFill>
                <a:latin typeface="Helvetica Neue"/>
                <a:ea typeface="Helvetica Neue"/>
                <a:cs typeface="Helvetica Neue"/>
              </a:rPr>
              <a:t>Registrar incidencias, tiempos reales y necesidades de capacitación.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D928A-9348-4A99-AE81-083B95A7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Propuesta de adopción: el alcance, las fechas y los responsables se acuerdan con la Unión.</a:t>
            </a:r>
          </a:p>
        </p:txBody>
      </p:sp>
    </p:spTree>
    <p:extLst>
      <p:ext uri="{BB962C8B-B14F-4D97-AF65-F5344CB8AC3E}">
        <p14:creationId xmlns:p14="http://schemas.microsoft.com/office/powerpoint/2010/main" val="19702458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8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A5314-4C77-4A0A-9F19-94D21A39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34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Decisiones para iniciar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4E256-A55D-4655-8B20-DF6F84A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4D3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4D3CA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ED27F-76FC-4A26-9CB2-C5E61968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09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Definir el piloto y sus responsables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EF588-28BC-4AFE-A85E-D6B8A86C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00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CE7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CE7DC"/>
                </a:solidFill>
                <a:latin typeface="Helvetica Neue"/>
                <a:ea typeface="Helvetica Neue"/>
                <a:cs typeface="Helvetica Neue"/>
              </a:rPr>
              <a:t>Acordar qué secciones participan, qué procesos se demostrarán y quién resolverá las excepciones del ciclo anual.</a:t>
            </a:r>
          </a:p>
        </p:txBody>
      </p:sp>
    </p:spTree>
    <p:extLst>
      <p:ext uri="{BB962C8B-B14F-4D97-AF65-F5344CB8AC3E}">
        <p14:creationId xmlns:p14="http://schemas.microsoft.com/office/powerpoint/2010/main" val="1634014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2026-09-14T21:54:56.3970000Z</dcterms:created>
  <dcterms:modified xsi:type="dcterms:W3CDTF">2026-09-14T21:54:56.3970000Z</dcterms:modified>
</coreProperties>
</file>