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148f2b2cec4ed0" /><Relationship Type="http://schemas.openxmlformats.org/officeDocument/2006/relationships/extended-properties" Target="/docProps/app.xml" Id="R0bf41c68272c402f" /><Relationship Type="http://schemas.openxmlformats.org/officeDocument/2006/relationships/officeDocument" Target="/ppt/presentation.xml" Id="Rb060484047db42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551114a68445eb"/>
  </p:sldMasterIdLst>
  <p:notesMasterIdLst>
    <p:notesMasterId xmlns:r="http://schemas.openxmlformats.org/officeDocument/2006/relationships" r:id="Rb7613562a2364ab5"/>
  </p:notesMasterIdLst>
  <p:sldIdLst>
    <p:sldId xmlns:r="http://schemas.openxmlformats.org/officeDocument/2006/relationships" id="256" r:id="Rffeb237cd6534251"/>
    <p:sldId xmlns:r="http://schemas.openxmlformats.org/officeDocument/2006/relationships" id="257" r:id="Re0250a18e80f4bf3"/>
    <p:sldId xmlns:r="http://schemas.openxmlformats.org/officeDocument/2006/relationships" id="258" r:id="Rbb7f41630ed34bc3"/>
    <p:sldId xmlns:r="http://schemas.openxmlformats.org/officeDocument/2006/relationships" id="259" r:id="Rd9083167c5904115"/>
    <p:sldId xmlns:r="http://schemas.openxmlformats.org/officeDocument/2006/relationships" id="260" r:id="R24c57705628b479e"/>
    <p:sldId xmlns:r="http://schemas.openxmlformats.org/officeDocument/2006/relationships" id="261" r:id="R4165f5aff4dc428d"/>
    <p:sldId xmlns:r="http://schemas.openxmlformats.org/officeDocument/2006/relationships" id="262" r:id="R7b613afa21544ea5"/>
    <p:sldId xmlns:r="http://schemas.openxmlformats.org/officeDocument/2006/relationships" id="263" r:id="R5ca80fffb5c54d50"/>
    <p:sldId xmlns:r="http://schemas.openxmlformats.org/officeDocument/2006/relationships" id="264" r:id="Rbdf957f576a24520"/>
    <p:sldId xmlns:r="http://schemas.openxmlformats.org/officeDocument/2006/relationships" id="265" r:id="R448b9dfefd254238"/>
    <p:sldId xmlns:r="http://schemas.openxmlformats.org/officeDocument/2006/relationships" id="266" r:id="R310a49ab5f8a4e0a"/>
    <p:sldId xmlns:r="http://schemas.openxmlformats.org/officeDocument/2006/relationships" id="267" r:id="Re6e2d2eec43448e5"/>
    <p:sldId xmlns:r="http://schemas.openxmlformats.org/officeDocument/2006/relationships" id="268" r:id="R3630dfd3b0fa490e"/>
    <p:sldId xmlns:r="http://schemas.openxmlformats.org/officeDocument/2006/relationships" id="269" r:id="Rf3859863b2124582"/>
    <p:sldId xmlns:r="http://schemas.openxmlformats.org/officeDocument/2006/relationships" id="270" r:id="R918ea52c293e452e"/>
    <p:sldId xmlns:r="http://schemas.openxmlformats.org/officeDocument/2006/relationships" id="271" r:id="R0d4ffb187c984eca"/>
    <p:sldId xmlns:r="http://schemas.openxmlformats.org/officeDocument/2006/relationships" id="272" r:id="Rb69e21c59e7b406a"/>
    <p:sldId xmlns:r="http://schemas.openxmlformats.org/officeDocument/2006/relationships" id="273" r:id="R4d86e45df5e247e9"/>
    <p:sldId xmlns:r="http://schemas.openxmlformats.org/officeDocument/2006/relationships" id="274" r:id="R536c4dea1a2742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438700cca94bb0" /><Relationship Type="http://schemas.openxmlformats.org/officeDocument/2006/relationships/slideMaster" Target="/ppt/slideMasters/slideMaster1.xml" Id="Rdc551114a68445eb" /><Relationship Type="http://schemas.openxmlformats.org/officeDocument/2006/relationships/notesMaster" Target="/ppt/notesMasters/notesMaster1.xml" Id="Rb7613562a2364ab5" /><Relationship Type="http://schemas.openxmlformats.org/officeDocument/2006/relationships/presProps" Target="/ppt/presProps.xml" Id="Raec32a4b91404efc" /><Relationship Type="http://schemas.openxmlformats.org/officeDocument/2006/relationships/tableStyles" Target="/ppt/tableStyles.xml" Id="R2add8804259e4722" /><Relationship Type="http://schemas.openxmlformats.org/officeDocument/2006/relationships/slide" Target="/ppt/slides/slide1.xml" Id="Rffeb237cd6534251" /><Relationship Type="http://schemas.openxmlformats.org/officeDocument/2006/relationships/slide" Target="/ppt/slides/slide2.xml" Id="Re0250a18e80f4bf3" /><Relationship Type="http://schemas.openxmlformats.org/officeDocument/2006/relationships/slide" Target="/ppt/slides/slide3.xml" Id="Rbb7f41630ed34bc3" /><Relationship Type="http://schemas.openxmlformats.org/officeDocument/2006/relationships/slide" Target="/ppt/slides/slide4.xml" Id="Rd9083167c5904115" /><Relationship Type="http://schemas.openxmlformats.org/officeDocument/2006/relationships/slide" Target="/ppt/slides/slide5.xml" Id="R24c57705628b479e" /><Relationship Type="http://schemas.openxmlformats.org/officeDocument/2006/relationships/slide" Target="/ppt/slides/slide6.xml" Id="R4165f5aff4dc428d" /><Relationship Type="http://schemas.openxmlformats.org/officeDocument/2006/relationships/slide" Target="/ppt/slides/slide7.xml" Id="R7b613afa21544ea5" /><Relationship Type="http://schemas.openxmlformats.org/officeDocument/2006/relationships/slide" Target="/ppt/slides/slide8.xml" Id="R5ca80fffb5c54d50" /><Relationship Type="http://schemas.openxmlformats.org/officeDocument/2006/relationships/slide" Target="/ppt/slides/slide9.xml" Id="Rbdf957f576a24520" /><Relationship Type="http://schemas.openxmlformats.org/officeDocument/2006/relationships/slide" Target="/ppt/slides/slide10.xml" Id="R448b9dfefd254238" /><Relationship Type="http://schemas.openxmlformats.org/officeDocument/2006/relationships/slide" Target="/ppt/slides/slide11.xml" Id="R310a49ab5f8a4e0a" /><Relationship Type="http://schemas.openxmlformats.org/officeDocument/2006/relationships/slide" Target="/ppt/slides/slide12.xml" Id="Re6e2d2eec43448e5" /><Relationship Type="http://schemas.openxmlformats.org/officeDocument/2006/relationships/slide" Target="/ppt/slides/slide13.xml" Id="R3630dfd3b0fa490e" /><Relationship Type="http://schemas.openxmlformats.org/officeDocument/2006/relationships/slide" Target="/ppt/slides/slide14.xml" Id="Rf3859863b2124582" /><Relationship Type="http://schemas.openxmlformats.org/officeDocument/2006/relationships/slide" Target="/ppt/slides/slide15.xml" Id="R918ea52c293e452e" /><Relationship Type="http://schemas.openxmlformats.org/officeDocument/2006/relationships/slide" Target="/ppt/slides/slide16.xml" Id="R0d4ffb187c984eca" /><Relationship Type="http://schemas.openxmlformats.org/officeDocument/2006/relationships/slide" Target="/ppt/slides/slide17.xml" Id="Rb69e21c59e7b406a" /><Relationship Type="http://schemas.openxmlformats.org/officeDocument/2006/relationships/slide" Target="/ppt/slides/slide18.xml" Id="R4d86e45df5e247e9" /><Relationship Type="http://schemas.openxmlformats.org/officeDocument/2006/relationships/slide" Target="/ppt/slides/slide19.xml" Id="R536c4dea1a2742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54ac05a5cf4d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cf0b7260164f83" /><Relationship Type="http://schemas.openxmlformats.org/officeDocument/2006/relationships/notesMaster" Target="/ppt/notesMasters/notesMaster1.xml" Id="Rc913ba095b2346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e73f7dc69b4e57" /><Relationship Type="http://schemas.openxmlformats.org/officeDocument/2006/relationships/notesMaster" Target="/ppt/notesMasters/notesMaster1.xml" Id="R05aa2b54db5744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7d221ddef4418f" /><Relationship Type="http://schemas.openxmlformats.org/officeDocument/2006/relationships/notesMaster" Target="/ppt/notesMasters/notesMaster1.xml" Id="R2d7e4612419846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c0f4c377d94973" /><Relationship Type="http://schemas.openxmlformats.org/officeDocument/2006/relationships/notesMaster" Target="/ppt/notesMasters/notesMaster1.xml" Id="R458211687c9143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7d4844c504472b" /><Relationship Type="http://schemas.openxmlformats.org/officeDocument/2006/relationships/notesMaster" Target="/ppt/notesMasters/notesMaster1.xml" Id="R3049e86dad784b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0da6a8b41b4585" /><Relationship Type="http://schemas.openxmlformats.org/officeDocument/2006/relationships/notesMaster" Target="/ppt/notesMasters/notesMaster1.xml" Id="R65356dc0b8094e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2a4e9163a441f0" /><Relationship Type="http://schemas.openxmlformats.org/officeDocument/2006/relationships/notesMaster" Target="/ppt/notesMasters/notesMaster1.xml" Id="Rf2e2d306408047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87c83c05fb4372" /><Relationship Type="http://schemas.openxmlformats.org/officeDocument/2006/relationships/notesMaster" Target="/ppt/notesMasters/notesMaster1.xml" Id="R0add20ffb3034d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cf2dba336948c0" /><Relationship Type="http://schemas.openxmlformats.org/officeDocument/2006/relationships/notesMaster" Target="/ppt/notesMasters/notesMaster1.xml" Id="Rb099a56ac4a644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a6b0f2a9f14e2b" /><Relationship Type="http://schemas.openxmlformats.org/officeDocument/2006/relationships/notesMaster" Target="/ppt/notesMasters/notesMaster1.xml" Id="Rf509b5752ec343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ef2cdca3b94d9b" /><Relationship Type="http://schemas.openxmlformats.org/officeDocument/2006/relationships/notesMaster" Target="/ppt/notesMasters/notesMaster1.xml" Id="Rd059a57e21bc4c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8dfa366c5847df" /><Relationship Type="http://schemas.openxmlformats.org/officeDocument/2006/relationships/notesMaster" Target="/ppt/notesMasters/notesMaster1.xml" Id="R959f9596ff9f4e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ccb37b58fb4dc2" /><Relationship Type="http://schemas.openxmlformats.org/officeDocument/2006/relationships/notesMaster" Target="/ppt/notesMasters/notesMaster1.xml" Id="Ree178757d5574d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e9c4cd31194285" /><Relationship Type="http://schemas.openxmlformats.org/officeDocument/2006/relationships/notesMaster" Target="/ppt/notesMasters/notesMaster1.xml" Id="R23853451e00d4f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8cf1455cf084a21" /><Relationship Type="http://schemas.openxmlformats.org/officeDocument/2006/relationships/notesMaster" Target="/ppt/notesMasters/notesMaster1.xml" Id="R791faca1149b41e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776d60f392471b" /><Relationship Type="http://schemas.openxmlformats.org/officeDocument/2006/relationships/notesMaster" Target="/ppt/notesMasters/notesMaster1.xml" Id="Rede19a077d1a48b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c1fdfe854dd4e3c" /><Relationship Type="http://schemas.openxmlformats.org/officeDocument/2006/relationships/notesMaster" Target="/ppt/notesMasters/notesMaster1.xml" Id="R408c8b171762470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a8948585b5a49c4" /><Relationship Type="http://schemas.openxmlformats.org/officeDocument/2006/relationships/notesMaster" Target="/ppt/notesMasters/notesMaster1.xml" Id="R3624c324ddbb4aa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8e7342074874b1c" /><Relationship Type="http://schemas.openxmlformats.org/officeDocument/2006/relationships/notesMaster" Target="/ppt/notesMasters/notesMaster1.xml" Id="Rcaa0b597bcef4d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Deck de venta de producto completo. Distinto del PPTX congelado de 15 minutos. Audiencia: ministerio juvenil / iglesia, con Unión Mexicana Interoceánica como primer territorio. Corte 14 de septiembre de 2026. No certifica despliegue en toda la Unión ni en la Iglesia.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14-mapa-producto-iglesia.md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el dolor institucional, no con módulos. No inventar cifras de pérdida. SACDIA no sustituye el ministerio humano: le da memoria y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docs/canon/identidad-sacdia.md; 14-mapa-producto-iglesia.md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Unidad de valor: la trayectoria. Si preguntan por tesorería o ranking: sostienen esa historia, no la reemplazan.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docs/canon/identidad-sacdia.md; docs/canon/dominio-sacdia.md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Lámina de ancla. Después viene el recorrido. No decir que el historial de todos los cambios de sección ya está completo: ese hueco va en implantación.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14-mapa-producto-iglesia.md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Padres, consejero y coordinador de zona existen; no saturar la lámina. Coordinador revisa evidencias de su alcance: no es atajo de campo para camporee. Director de Unión no es admin técnico.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03-roles-permisos-contexto.md; 05-matriz-roles-verificada.md; 14-mapa-producto-iglesia.md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historia ES el producto. Ejemplo ficticio: Panteras. No afirmar que subir una foto ya investe. Al año siguiente no se copia el roster.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06, 07, 08, 09, 10, 11, 12, 13, 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flechas son contexto, no un trámite. Una persona puede conservar cuenta sin estar inscrita este año. Estados canónicos de vinculación (suspendido, apoyo) no están todos en runtime: no venderlos como hechos.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01-fundamentos.md; 07-inscripcion-anual.md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OAuth y MFA opcionales. La solicitud puede cancelarse o vencer. No afirmar correo verificado como requisito si no está comprobado en el entorno del piloto.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06-ingreso-inicial.md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Cuatro caminos distintos. Coordinación por zonas y aprobaciones masivas de investidura: en proceso; no presentarlos como recorrido estable. Certificaciones: hay pantallas; no se ensayó piloto.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02, 08, 09, 10, 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 preguntan: clase/investidura, especialidad y certificación son colas distintas. La carpeta anual no es esa bandeja. No afirmar que cualquier foto entra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02-revision-evidencias.md; 08; 09;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Unidad no es sección ni clase. Actividad registrada no equivale a realizada. Planilla semanal no es la asistencia de una actividad.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13-operacion-seccion.md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Vender como parte del producto implantado, no como demo de 15 minutos. No inventar fórmulas de ranking ni ahorros. Historial de transiciones: hueco declarado.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13; inventario de dominios (finanzas, inventario, gestion-seguros)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órdenes de pago, los asistentes nacen al aprobar el comprobante. Pedidos de playeras, gorras e insumos de cocina: otra rama, no el piloto. No vender logística de campamento.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11-camporees.md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SLA: admin y coordinador, no director-unión. Miembro del mes: derivado de planilla; no profundizar. No decir que Unión sella el informe.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12-supervision-institucional.md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Ejemplo de paridad: inscripción anual conectada en app; el panel aún no consume ese flujo. Recursos digitales: por unión/campo/tipo. Auditoría: parcial. Logros gamificados: no vender.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04-arquitectura-tecnica.md; 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Síntesis, no auditoría de grants de producción. Si preguntan por coordinador: evidencias de su zona, no camporee.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05-matriz-roles-verificada.md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Lámina de honestidad: protege la venta. Frases vetadas: ya está en toda la Unión; el coordinador aprueba camporees; Unión cobra en la app; subir la foto ya investe; el informe lo sella Unión.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14-mapa-producto-iglesia.md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viva: solo lo ensayado en verde (ensayo-cuentas-ficticias.md). El resto se explica con esta presentación, sin improvisar pantallas.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14; presentacion/ensayo-cuentas-ficticias.md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acuerdo, no con roll-out nacional. No presupuesto ni plazo en esta presentación. Si piden el deck corto de 15 minutos, está congelado por separado.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14-mapa-producto-iglesia.md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a62eafdd3245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d5b88fe751414a" /><Relationship Type="http://schemas.openxmlformats.org/officeDocument/2006/relationships/slideLayout" Target="/ppt/slideLayouts/slideLayout1.xml" Id="Rce4395d028914e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4395d028914e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81a568ebc46d7" /><Relationship Type="http://schemas.openxmlformats.org/officeDocument/2006/relationships/image" Target="/ppt/media/image.png" Id="Rb79e5a50f23c4a7c" /><Relationship Type="http://schemas.openxmlformats.org/officeDocument/2006/relationships/notesSlide" Target="/ppt/notesSlides/notesSlide1.xml" Id="R7a0c5e79c4d547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45efd5bfe4f31" /><Relationship Type="http://schemas.openxmlformats.org/officeDocument/2006/relationships/notesSlide" Target="/ppt/notesSlides/notesSlide2.xml" Id="Rc0821ffc16bf41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6ebb70ef84ff3" /><Relationship Type="http://schemas.openxmlformats.org/officeDocument/2006/relationships/notesSlide" Target="/ppt/notesSlides/notesSlide3.xml" Id="Rbf575fa7609144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02022e22442cd" /><Relationship Type="http://schemas.openxmlformats.org/officeDocument/2006/relationships/notesSlide" Target="/ppt/notesSlides/notesSlide4.xml" Id="Rf810f7517d0c41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f198ac3e840f5" /><Relationship Type="http://schemas.openxmlformats.org/officeDocument/2006/relationships/notesSlide" Target="/ppt/notesSlides/notesSlide5.xml" Id="R25ac2bb00f674c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f9439e78b4aa4" /><Relationship Type="http://schemas.openxmlformats.org/officeDocument/2006/relationships/notesSlide" Target="/ppt/notesSlides/notesSlide6.xml" Id="R7402c8c257ef41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62b34bc5946df" /><Relationship Type="http://schemas.openxmlformats.org/officeDocument/2006/relationships/notesSlide" Target="/ppt/notesSlides/notesSlide7.xml" Id="Ra0148b1825d041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d4999112e432d" /><Relationship Type="http://schemas.openxmlformats.org/officeDocument/2006/relationships/notesSlide" Target="/ppt/notesSlides/notesSlide8.xml" Id="R4a35e090d71d49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dea205b5d4eb7" /><Relationship Type="http://schemas.openxmlformats.org/officeDocument/2006/relationships/notesSlide" Target="/ppt/notesSlides/notesSlide9.xml" Id="Rfd759b9d85dd4a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7c5272e0b4615" /><Relationship Type="http://schemas.openxmlformats.org/officeDocument/2006/relationships/notesSlide" Target="/ppt/notesSlides/notesSlide10.xml" Id="R0468a90277a342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6529d6f1c421c" /><Relationship Type="http://schemas.openxmlformats.org/officeDocument/2006/relationships/notesSlide" Target="/ppt/notesSlides/notesSlide11.xml" Id="Re71d3e3dca534b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fb1f4ad3d4b74" /><Relationship Type="http://schemas.openxmlformats.org/officeDocument/2006/relationships/notesSlide" Target="/ppt/notesSlides/notesSlide12.xml" Id="R1ca029e6ede340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630cff6474b0b" /><Relationship Type="http://schemas.openxmlformats.org/officeDocument/2006/relationships/notesSlide" Target="/ppt/notesSlides/notesSlide13.xml" Id="Rf7c34c1fa34c45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6685a84464234" /><Relationship Type="http://schemas.openxmlformats.org/officeDocument/2006/relationships/notesSlide" Target="/ppt/notesSlides/notesSlide14.xml" Id="R81f93fb3733c47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6ac6929934c80" /><Relationship Type="http://schemas.openxmlformats.org/officeDocument/2006/relationships/notesSlide" Target="/ppt/notesSlides/notesSlide15.xml" Id="Rc555fa816cb240a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804a9322f42ba" /><Relationship Type="http://schemas.openxmlformats.org/officeDocument/2006/relationships/notesSlide" Target="/ppt/notesSlides/notesSlide16.xml" Id="R3da170a6c0974e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858756a05407a" /><Relationship Type="http://schemas.openxmlformats.org/officeDocument/2006/relationships/notesSlide" Target="/ppt/notesSlides/notesSlide17.xml" Id="R72067b7495274ac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9e392a803498d" /><Relationship Type="http://schemas.openxmlformats.org/officeDocument/2006/relationships/notesSlide" Target="/ppt/notesSlides/notesSlide18.xml" Id="Rc900139b29ff4f3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25234d06a4465" /><Relationship Type="http://schemas.openxmlformats.org/officeDocument/2006/relationships/notesSlide" Target="/ppt/notesSlides/notesSlide19.xml" Id="Rf33d7091a08b4a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e5a50f23c4a7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676D7-ED7C-4062-AF6A-C8969FFE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SACDIA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D6689-4102-43F3-B919-21F62D87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Cómo queda el sistema</a:t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para la iglesia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0838C-8180-4A53-BCAD-E111CD00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4EB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4EBDD"/>
                </a:solidFill>
                <a:latin typeface="Helvetica Neue"/>
                <a:ea typeface="Helvetica Neue"/>
                <a:cs typeface="Helvetica Neue"/>
              </a:rPr>
              <a:t>Ministerio Juvenil Adventista</a:t>
            </a:r>
          </a:p>
        </p:txBody>
      </p:sp>
    </p:spTree>
    <p:extLst>
      <p:ext uri="{BB962C8B-B14F-4D97-AF65-F5344CB8AC3E}">
        <p14:creationId xmlns:p14="http://schemas.microsoft.com/office/powerpoint/2010/main" val="10771035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A499B-4542-44DE-9747-5B1AAFC5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El problema que resuelve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8599F-E614-44AD-84C0-7EBC4298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08C83-B064-4DD6-A16F-4383A285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Memoria frágil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A3B83-93F9-4E2A-8EE9-79675F09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907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Historial en papeles y hojas sueltas. Se pierde al cambiar de director.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25C41-3683-4876-89C9-39605C8C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Cargos opacos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78F11-1996-45CD-AD11-EE461DE2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051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No queda claro quién responde, en qué sección y en qué año.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32B34-3E35-4257-8E63-4A955D7F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Validación opaca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775D7-8A4A-489A-8312-11DBF5B9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195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Se sube un archivo y se asume que ya hay investidura o especialidad.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F097A-B4AE-4E55-9262-438FF9F0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Vista partida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0C384-4047-470E-99D8-5FC902F5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339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La sección opera en un lado; campo y Unión no comparten la misma foto.</a:t>
            </a:r>
          </a:p>
        </p:txBody>
      </p:sp>
    </p:spTree>
    <p:extLst>
      <p:ext uri="{BB962C8B-B14F-4D97-AF65-F5344CB8AC3E}">
        <p14:creationId xmlns:p14="http://schemas.microsoft.com/office/powerpoint/2010/main" val="77705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6BE7E-CB4C-472A-96AE-C0B89575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Qué es SACDIA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E4B05-5D5D-4C6C-B745-7B30D09A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6B510-833C-4C45-A0FE-CB1D2D34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105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D2"/>
          </a:solidFill>
          <a:ln xmlns:a="http://schemas.openxmlformats.org/drawingml/2006/main" w="9525">
            <a:solidFill>
              <a:srgbClr val="5F7A7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0259B-059A-47F9-8A44-AA3917CD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5105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6"/>
          </a:solidFill>
          <a:ln xmlns:a="http://schemas.openxmlformats.org/drawingml/2006/main" w="9525">
            <a:solidFill>
              <a:srgbClr val="C4B08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7DBD6-355E-4522-9170-8DE4BED3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A5FFE-B0B6-4720-A27D-F70B51BA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572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Trazabilidad institucional de Aventureros, Conquistadores y Guías Mayores.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La trayectoria queda con contexto: quién, dónde, en qué año, bajo qué cargo.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El reconocimiento lo decide un responsable.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CE517-70C8-4D6D-B016-916FD19F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193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No 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B35C8-9D0E-4C2C-888B-708F4D68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572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Una biblioteca de especialidades.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Un Excel en la nube.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Un sistema que aprueba todo solo.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Un ERP genérico de la iglesia.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FD418-155B-4759-9717-9F9309AD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Clubes, clases, camporees y tableros existen para sostener la trayectoria del miembro.</a:t>
            </a:r>
          </a:p>
        </p:txBody>
      </p:sp>
    </p:spTree>
    <p:extLst>
      <p:ext uri="{BB962C8B-B14F-4D97-AF65-F5344CB8AC3E}">
        <p14:creationId xmlns:p14="http://schemas.microsoft.com/office/powerpoint/2010/main" val="11238223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3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54C9E-7DA3-4C92-93A4-FD1ADC5B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 unidad de valor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0D099-E6EB-450B-AB7E-A441A03C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4D3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4D3C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0B9F7-F220-43C2-BBC7-17DF7534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 trayectoria de cada persona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DB86A-7A45-4B98-B321-0045F5F2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CE7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DCE7DC"/>
                </a:solidFill>
                <a:latin typeface="Helvetica Neue"/>
                <a:ea typeface="Helvetica Neue"/>
                <a:cs typeface="Helvetica Neue"/>
              </a:rPr>
              <a:t>La cuenta continúa de un año a otro. La inscripción, los cargos y el reconocimiento se resuelven en el periodo vigente, con responsables que deciden.</a:t>
            </a:r>
          </a:p>
        </p:txBody>
      </p:sp>
    </p:spTree>
    <p:extLst>
      <p:ext uri="{BB962C8B-B14F-4D97-AF65-F5344CB8AC3E}">
        <p14:creationId xmlns:p14="http://schemas.microsoft.com/office/powerpoint/2010/main" val="11153812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8D7CF-82D8-4FC1-9989-A2F85815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A quién sirve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43C61-66A6-4EAB-8818-201A6B26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350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Actor</a:t>
                      </a:r>
                    </a:p>
                  </a:txBody>
                  <a:tcPr marL="133350" marR="133350" marT="76200" marB="76200"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Qué gana cuando el sistema está implantado</a:t>
                      </a:r>
                    </a:p>
                  </a:txBody>
                  <a:tcPr marL="133350" marR="133350" marT="76200" marB="76200">
                    <a:solidFill>
                      <a:srgbClr val="183D35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Niño, joven o Guía Mayor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Cuenta, historial, clase del año, especialidades, credencial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Directiva de sección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Roster, cargos, unidades, actividades, informe, carpeta, camporee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Campo local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Aprobaciones, evaluación de carpetas, camporee local y cobro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Unión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Camporee de unión, confirmación cuando aplica, tablero e informes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Administración técnica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Cuentas, catálogos y permisos; no es el cargo de director de jóvenes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45680-EADA-4B7C-A595-AC0277FF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Un cargo de iglesia no equivale a administrador del software.</a:t>
            </a:r>
          </a:p>
        </p:txBody>
      </p:sp>
    </p:spTree>
    <p:extLst>
      <p:ext uri="{BB962C8B-B14F-4D97-AF65-F5344CB8AC3E}">
        <p14:creationId xmlns:p14="http://schemas.microsoft.com/office/powerpoint/2010/main" val="12235652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53747C-0B3C-4F91-A7CB-587B308A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Recorrido de una persona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1048B-4288-4457-B865-CEC7CA85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48C83-983A-41F6-8B48-48792167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428"/>
          </a:solidFill>
          <a:ln xmlns:a="http://schemas.openxmlformats.org/drawingml/2006/main" w="0">
            <a:solidFill>
              <a:srgbClr val="8F642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53A5C-351E-464B-B77B-8A1FA0AA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85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Pide sección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794E0-A326-4A87-A4A0-0AF15BA7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Se registra y pide una sección. Queda pendiente hasta que la directiva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69A25-6242-4BD2-B539-177762F7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428"/>
          </a:solidFill>
          <a:ln xmlns:a="http://schemas.openxmlformats.org/drawingml/2006/main" w="0">
            <a:solidFill>
              <a:srgbClr val="8F642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51C26-3473-42E9-BA7E-02525B94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La directiva decide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94DEC-0A24-4D10-83DE-F7C8D3F9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Al aprobar, el sistema resuelve la clase del año según las reglas vigentes.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33350-ABC8-4779-8E22-C3A692D4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428"/>
          </a:solidFill>
          <a:ln xmlns:a="http://schemas.openxmlformats.org/drawingml/2006/main" w="0">
            <a:solidFill>
              <a:srgbClr val="8F642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C28F9-8725-419B-A003-57A03BD4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Avanza formación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75FDA-45C6-46CC-BE0F-792E4CE1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Clase, especialidades y, si aplica, una certificación electiva.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13926-17C2-4BAB-9D99-1F0F23C8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428"/>
          </a:solidFill>
          <a:ln xmlns:a="http://schemas.openxmlformats.org/drawingml/2006/main" w="0">
            <a:solidFill>
              <a:srgbClr val="8F642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7D937-5E07-4E1C-9F97-C436E2AD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Hay reconocimiento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703C1-30A5-4970-9676-51E4442A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911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Cada acto lo cierra un responsable: consejero, director, campo o Unión.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DA122B-D690-4CF8-B10D-00D859E6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428"/>
          </a:solidFill>
          <a:ln xmlns:a="http://schemas.openxmlformats.org/drawingml/2006/main" w="0">
            <a:solidFill>
              <a:srgbClr val="8F642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CE51D-86F9-4B0F-9976-A230FDF9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85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La sección opera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79F5E1-2781-48AC-9B8F-768D8062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907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Informe del mes, carpeta anual y participación en camporee.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01787-A7A8-4CD7-9C2F-483A4B52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428"/>
          </a:solidFill>
          <a:ln xmlns:a="http://schemas.openxmlformats.org/drawingml/2006/main" w="0">
            <a:solidFill>
              <a:srgbClr val="8F642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833B62-D56F-4703-90B9-BEAA5BF5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527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El territorio 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465420-6328-458C-B85B-0EAFA1E1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57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Campo y Unión consultan operación y pendientes de su alcance.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9C9D41-AF54-4FB2-9611-ADAC675C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428"/>
          </a:solidFill>
          <a:ln xmlns:a="http://schemas.openxmlformats.org/drawingml/2006/main" w="0">
            <a:solidFill>
              <a:srgbClr val="8F6428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6C7F14-FD89-4DC9-960C-4665881B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19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Sigue el año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05B5B4-8267-4EB2-86E9-60C28C62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243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La cuenta permanece. Inscripción y cargos se resuelven de nuevo.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B29F0-4A63-43A0-AA52-F1A3A20C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Tesorería, inventario y materiales sostienen esta historia; no la reemplazan.</a:t>
            </a:r>
          </a:p>
        </p:txBody>
      </p:sp>
    </p:spTree>
    <p:extLst>
      <p:ext uri="{BB962C8B-B14F-4D97-AF65-F5344CB8AC3E}">
        <p14:creationId xmlns:p14="http://schemas.microsoft.com/office/powerpoint/2010/main" val="15147810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BD602-8C78-44D3-90EC-2919ABCE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Club, sección y año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16FC2-5779-433D-B97B-332C799E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07675-07DA-4B81-A6CC-BC0C1328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25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D2"/>
          </a:solidFill>
          <a:ln xmlns:a="http://schemas.openxmlformats.org/drawingml/2006/main" w="14288">
            <a:solidFill>
              <a:srgbClr val="5F7A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Club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D199B-BADB-4FA8-872F-AF041095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251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Identidad de la iglesia. Continúa aunque cambie la directiva.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BBBFF-8081-40E5-A980-56E692F9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2000250"/>
            <a:ext cx="325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D2"/>
          </a:solidFill>
          <a:ln xmlns:a="http://schemas.openxmlformats.org/drawingml/2006/main" w="14288">
            <a:solidFill>
              <a:srgbClr val="5F7A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Sección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4177D-CA5B-48F6-BAB5-4E049A32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028950"/>
            <a:ext cx="3251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Aventureros, Conquistadores o Guías Mayores. Ahí se opera.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C5382-77AA-4815-9C0E-C2D6EBA7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000250"/>
            <a:ext cx="325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D2"/>
          </a:solidFill>
          <a:ln xmlns:a="http://schemas.openxmlformats.org/drawingml/2006/main" w="14288">
            <a:solidFill>
              <a:srgbClr val="5F7A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Año eclesiástico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4DFF2-4F40-4A69-8141-EB6BE996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3028950"/>
            <a:ext cx="3251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Contexto de inscripción y cargos. No se hereda el roster.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860800" y="2419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F6428"/>
            </a:solidFill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21600" y="2419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F6428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43DE6-AEAD-40DD-A7CE-C6F6C43C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El corte de año cierra cargos vencidos y procesa sucesores; no inscribe a nadie.</a:t>
            </a:r>
          </a:p>
        </p:txBody>
      </p:sp>
    </p:spTree>
    <p:extLst>
      <p:ext uri="{BB962C8B-B14F-4D97-AF65-F5344CB8AC3E}">
        <p14:creationId xmlns:p14="http://schemas.microsoft.com/office/powerpoint/2010/main" val="16793566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4E2F0-05BC-40D7-ADDB-2F47C4AA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Cómo entra una persona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C39A1-C1FE-45F2-961C-787AF152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771A9-E270-4E1D-83F0-0810062F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25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D2"/>
          </a:solidFill>
          <a:ln xmlns:a="http://schemas.openxmlformats.org/drawingml/2006/main" w="14288">
            <a:solidFill>
              <a:srgbClr val="5F7A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Cuenta y ficha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6FB49-92B8-4F2D-B87A-558FD8C6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251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Foto, datos y representante si es menor. Correo, Google o Apple.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04141-9704-4E31-ACD6-60211EF8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2000250"/>
            <a:ext cx="325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D2"/>
          </a:solidFill>
          <a:ln xmlns:a="http://schemas.openxmlformats.org/drawingml/2006/main" w="14288">
            <a:solidFill>
              <a:srgbClr val="5F7A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Solicitud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91ADF-481D-43E4-8D30-09225A34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028950"/>
            <a:ext cx="3251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Elige territorio, club y sección. La clase la resuelve el sistema.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A6A29-FDF3-467D-ABF3-E312C067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000250"/>
            <a:ext cx="325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D2"/>
          </a:solidFill>
          <a:ln xmlns:a="http://schemas.openxmlformats.org/drawingml/2006/main" w="14288">
            <a:solidFill>
              <a:srgbClr val="5F7A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Aprobación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BFD9F-1EFE-407E-AFC9-1BF62A0F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3028950"/>
            <a:ext cx="3251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La directiva autorizada activa la membresía o rechaza.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860800" y="2419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F6428"/>
            </a:solidFill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21600" y="2419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F6428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96373-DDBF-4619-BE92-C097EDA1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Completar el formulario deja la membresía pendiente, no activa.</a:t>
            </a:r>
          </a:p>
        </p:txBody>
      </p:sp>
    </p:spTree>
    <p:extLst>
      <p:ext uri="{BB962C8B-B14F-4D97-AF65-F5344CB8AC3E}">
        <p14:creationId xmlns:p14="http://schemas.microsoft.com/office/powerpoint/2010/main" val="21336446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CF643-E029-4A49-B128-EAEDF24F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Formación y reconocimiento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619AF-3610-4D63-999F-AF08DEA7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476750"/>
                <a:gridCol w="3829050"/>
              </a:tblGrid>
              <a:tr h="6953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Camino</a:t>
                      </a:r>
                    </a:p>
                  </a:txBody>
                  <a:tcPr marL="133350" marR="133350" marT="76200" marB="76200"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Qué es</a:t>
                      </a:r>
                    </a:p>
                  </a:txBody>
                  <a:tcPr marL="133350" marR="133350" marT="76200" marB="76200"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Quién cierra</a:t>
                      </a:r>
                    </a:p>
                  </a:txBody>
                  <a:tcPr marL="133350" marR="133350" marT="76200" marB="76200">
                    <a:solidFill>
                      <a:srgbClr val="183D35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Clase progresiva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Etapa del año: Amigo, Compañero y siguientes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Investidura con revisión institucional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Especialidad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Competencia que elige la persona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Revisión de esa especialidad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Certificación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Programa versionado, por ejemplo personal de club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Junta y certificador, cola propia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Carpeta anual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Expediente de la sección, no de una persona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Campo califica; Unión confirma si aplica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A8086-35E2-46D7-879D-81286049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Registrar un archivo no valida. Aprobar un requisito no investe.</a:t>
            </a:r>
          </a:p>
        </p:txBody>
      </p:sp>
    </p:spTree>
    <p:extLst>
      <p:ext uri="{BB962C8B-B14F-4D97-AF65-F5344CB8AC3E}">
        <p14:creationId xmlns:p14="http://schemas.microsoft.com/office/powerpoint/2010/main" val="13113402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FC8F3-DA79-4362-AFE2-264F07FB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Registrar no es validar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EA5DB-4B81-4EC7-A8A2-B60C755F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60E24-A034-4A46-93AD-7F78EB07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25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D2"/>
          </a:solidFill>
          <a:ln xmlns:a="http://schemas.openxmlformats.org/drawingml/2006/main" w="14288">
            <a:solidFill>
              <a:srgbClr val="5F7A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Presentación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AE1B0-3031-465F-B67B-591BB4D0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251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El archivo entra al proceso que corresponde.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24B7F-64B7-4620-9727-E8A22C7B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2000250"/>
            <a:ext cx="325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D2"/>
          </a:solidFill>
          <a:ln xmlns:a="http://schemas.openxmlformats.org/drawingml/2006/main" w="14288">
            <a:solidFill>
              <a:srgbClr val="5F7A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Revisión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CEFEA-613C-43A0-BD40-A13B9AB4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028950"/>
            <a:ext cx="3251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Quien tiene permiso evalúa esa evidencia.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A205C-2E74-4B67-82E2-222BA96C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000250"/>
            <a:ext cx="325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D2"/>
          </a:solidFill>
          <a:ln xmlns:a="http://schemas.openxmlformats.org/drawingml/2006/main" w="14288">
            <a:solidFill>
              <a:srgbClr val="5F7A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Decisión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99DFA-D64D-403F-8476-77FCA470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3028950"/>
            <a:ext cx="3251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Se aprueba o se rechaza, y queda registro.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860800" y="2419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F6428"/>
            </a:solidFill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21600" y="2419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F6428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1F4D94-1144-4A3B-B0F3-776F0C0E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El sistema no concede reconocimiento institucional por sí solo.</a:t>
            </a:r>
          </a:p>
        </p:txBody>
      </p:sp>
    </p:spTree>
    <p:extLst>
      <p:ext uri="{BB962C8B-B14F-4D97-AF65-F5344CB8AC3E}">
        <p14:creationId xmlns:p14="http://schemas.microsoft.com/office/powerpoint/2010/main" val="17838097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ACC00-DE40-4C34-B9B4-5E802E54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La vida de la sección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9A0ED-1B29-4AB3-94E1-F1F86D04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C5596-6D2A-4CEB-8F41-00223D40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314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D2"/>
          </a:solidFill>
          <a:ln xmlns:a="http://schemas.openxmlformats.org/drawingml/2006/main" w="14288">
            <a:solidFill>
              <a:srgbClr val="5F7A7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38C1C-FEDB-49D7-B89C-E028079C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478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Miembros y cargos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961A4-55BC-4048-8A7F-C394D472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781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Lista por sección, clase del año y perfil. Los cargos son del periodo vigente.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BD1C7-6D32-452D-8B5B-A53A0BF0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85900"/>
            <a:ext cx="5314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D2"/>
          </a:solidFill>
          <a:ln xmlns:a="http://schemas.openxmlformats.org/drawingml/2006/main" w="14288">
            <a:solidFill>
              <a:srgbClr val="5F7A7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183BF-4F10-44A2-9E1B-D365EAD6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95450"/>
            <a:ext cx="478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Unidades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23AFF-CBAC-4970-BA93-B5F646D5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52650"/>
            <a:ext cx="4781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Grupos menores dentro de la sección. Una unidad activa por persona.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795A9-18CD-4E89-A40E-61FC1F16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5314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D2"/>
          </a:solidFill>
          <a:ln xmlns:a="http://schemas.openxmlformats.org/drawingml/2006/main" w="14288">
            <a:solidFill>
              <a:srgbClr val="5F7A7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343EE-F2FB-4BA3-8ECA-60B24BF8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78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Actividades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67914-A919-4AC1-85B6-21D1EE02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4781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Calendario, series y conjuntas. La asistencia la registra la directiva.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27E8C-A71D-4B84-A201-C6688320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5314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D2"/>
          </a:solidFill>
          <a:ln xmlns:a="http://schemas.openxmlformats.org/drawingml/2006/main" w="14288">
            <a:solidFill>
              <a:srgbClr val="5F7A7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599E4-7FD5-4E15-99E6-612E6C89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478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Planilla semanal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38980-1BD1-4E73-953E-DA8102C8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71950"/>
            <a:ext cx="4781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Puntos por categoría en la semana vigente. Alimenta reconocimientos internos.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625B2-7097-4D2C-ABE9-D530E56E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La directiva opera el club aquí. Campo y Unión no sustituyen ese trabajo diario.</a:t>
            </a:r>
          </a:p>
        </p:txBody>
      </p:sp>
    </p:spTree>
    <p:extLst>
      <p:ext uri="{BB962C8B-B14F-4D97-AF65-F5344CB8AC3E}">
        <p14:creationId xmlns:p14="http://schemas.microsoft.com/office/powerpoint/2010/main" val="2585204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835FA-4F90-401A-ACEE-5BBC27BC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Tesorería, inventario y seguros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BD9DD-4E3A-4FCD-BEAC-F2910C7A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82393-3555-4D0A-8CE9-4B48B873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Finanzas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A38A2-36A0-440F-B88B-DB71C938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907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Ingresos, egresos, resumen y cierre de mes de la sección.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A4F14-3CBF-4A2C-B879-9F9E04C7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Inventario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CCFA3-AE2E-4F86-AD3A-7F56C5EF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051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Bienes a cargo de la sección, con registro institucional.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4E834-C0D5-4790-9605-BFFE7DF1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Seguros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E0759-79F8-4732-B6D5-7C82B598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195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Actividades generales, camporee y alto riesgo. Condición para camporee.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99103-D082-46FC-B0B8-1C5A72A0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Traslados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E0C4A-3631-49C3-A809-1E6F5B6C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339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Solicitud y aprobación entre secciones. El historial largo es limitado.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DF85A-7825-4155-A9E2-2F8C1D2B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Forma parte del producto. En una cita de 15 minutos no hace falta abrirlos.</a:t>
            </a:r>
          </a:p>
        </p:txBody>
      </p:sp>
    </p:spTree>
    <p:extLst>
      <p:ext uri="{BB962C8B-B14F-4D97-AF65-F5344CB8AC3E}">
        <p14:creationId xmlns:p14="http://schemas.microsoft.com/office/powerpoint/2010/main" val="18841769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2BA76-07BF-4C5B-AAC4-05A6901A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Camporees institucionales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EADF7-683A-41C2-BCBD-566D6CFA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18BAE-68F6-4D4C-B95E-C0D10474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Dos niveles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89E06-7614-4492-B619-AFB94713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907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Camporee de campo y camporee de Unión. No se mezclan.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AB887-731F-4A24-B31B-68AE71DD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Dos inscripciones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28769-A993-45A8-8D71-519E709D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051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Inscribir la sección no inscribe personas. Las personas tienen su propio alta.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23219-392F-4EEA-9004-00955766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Cobro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E6DD3-89C0-4E13-BD00-969DC467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195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El campo recauda. El dinero campo–Unión queda fuera del sistema.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5090CD-14CA-4E86-9460-AEEBD9CB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Evaluación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C974A-E06D-474D-ADE9-43A9D4ED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339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Rúbricas y juez principal, después de cerrar clubes. No es el ranking anual.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9AB9F2-E548-4E8D-AE1B-6A3105F3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El coordinador de zona no aprueba camporee. Unión no cobra en la aplicación.</a:t>
            </a:r>
          </a:p>
        </p:txBody>
      </p:sp>
    </p:spTree>
    <p:extLst>
      <p:ext uri="{BB962C8B-B14F-4D97-AF65-F5344CB8AC3E}">
        <p14:creationId xmlns:p14="http://schemas.microsoft.com/office/powerpoint/2010/main" val="13397054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866E4-0EF2-4A7F-B549-A1E1DA9A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Lo que ven campo y Unión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5F2DC-DF57-4724-A25D-200C7BBF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AE934-7751-4956-9C8E-52AE09FC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Informe mensual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168D2-A57C-4A61-875E-CA842C0C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907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Corte del mes y PDF. Unión consulta; no hay sello de aprobar o rechazar.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313AE-2851-4916-9E51-47BC0BE1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Carpeta anual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563EE-A090-4F7A-BA53-9B61590A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051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El campo califica el expediente de la sección. Unión confirma si el caso lo pide.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18C78-E152-47BA-83A0-2A5BDFE9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Tablero operativo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6216D-03BD-49A8-B2D7-73E12FB7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195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Cobertura de clubes, colas y pendientes del territorio. Vista de inicio de Unión.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C4A53-DBB9-4306-B962-CCBBECA4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Clasificación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5925F-BF13-44F3-BB59-12857B9B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339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Ejes anuales de la sección. Existe en el producto; las fórmulas no se abren aquí.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BD91D-1DBE-4B1D-B5B5-DC8E0B8B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El tablero de tiempos de cola no es la vista del director de jóvenes.</a:t>
            </a:r>
          </a:p>
        </p:txBody>
      </p:sp>
    </p:spTree>
    <p:extLst>
      <p:ext uri="{BB962C8B-B14F-4D97-AF65-F5344CB8AC3E}">
        <p14:creationId xmlns:p14="http://schemas.microsoft.com/office/powerpoint/2010/main" val="13125539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58472-8BFA-422A-9656-22462BBE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Una plataforma, dos interfaces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32320-1526-42AD-BDEF-EC561F64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ACDE2-1D7E-4196-AE94-A6BA1E52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25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D2"/>
          </a:solidFill>
          <a:ln xmlns:a="http://schemas.openxmlformats.org/drawingml/2006/main" w="14288">
            <a:solidFill>
              <a:srgbClr val="5F7A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App del club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467A3-BC29-47D5-8D3A-98872BC0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251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Operación diaria: miembros, avance, avisos y credencial.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F200E-0BCC-4207-95E6-942DAAE6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2000250"/>
            <a:ext cx="325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D2"/>
          </a:solidFill>
          <a:ln xmlns:a="http://schemas.openxmlformats.org/drawingml/2006/main" w="14288">
            <a:solidFill>
              <a:srgbClr val="5F7A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Panel territorial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12CB1-E34D-4AF0-B874-30106ACC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028950"/>
            <a:ext cx="3251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Campo, Unión y administración: revisiones, carpetas, tablero.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74CF6-E155-406F-B33F-090D1D21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000250"/>
            <a:ext cx="325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D2"/>
          </a:solidFill>
          <a:ln xmlns:a="http://schemas.openxmlformats.org/drawingml/2006/main" w="14288">
            <a:solidFill>
              <a:srgbClr val="5F7A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Reglas comunes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95EE9-E816-4668-AABB-FF7818CE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3028950"/>
            <a:ext cx="3251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Las mismas reglas. Las pantallas no coinciden una a una.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860800" y="2419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F6428"/>
            </a:solidFill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21600" y="2419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F6428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D9A5B-9A6B-4AB1-A034-B45A4016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También hay materiales por alcance y notificaciones; no cubren todos los eventos.</a:t>
            </a:r>
          </a:p>
        </p:txBody>
      </p:sp>
    </p:spTree>
    <p:extLst>
      <p:ext uri="{BB962C8B-B14F-4D97-AF65-F5344CB8AC3E}">
        <p14:creationId xmlns:p14="http://schemas.microsoft.com/office/powerpoint/2010/main" val="10889365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3657A-4495-4F00-B393-89053DBE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El cargo no abre todo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5F10C-C148-4608-BE74-78F6E7F6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9C09F-32FC-4CC7-9C24-926687D1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105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FD2"/>
          </a:solidFill>
          <a:ln xmlns:a="http://schemas.openxmlformats.org/drawingml/2006/main" w="9525">
            <a:solidFill>
              <a:srgbClr val="5F7A7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8004D-BBD2-4EA0-A66F-10A22D86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5105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6"/>
          </a:solidFill>
          <a:ln xmlns:a="http://schemas.openxmlformats.org/drawingml/2006/main" w="9525">
            <a:solidFill>
              <a:srgbClr val="C4B08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5FDBC-86BF-42CB-8A47-E81B56F1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El sistema comprueba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5B62D-4ADD-4970-B3BD-826F8EFE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572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Identidad y permisos.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Sección o territorio del recurso.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Vigencia del cargo en el año.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71BE4-4C0A-4CC2-91CA-9E0725B9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193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No concede acceso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1A6FB-99ED-440D-B331-BF32124F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572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Conocer un identificador.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Ver un botón en pantalla.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Haber tenido el cargo otro año.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AFC91-271F-4D88-B4F9-AD4C371E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Nadie ve todo por el título. El director de Unión no es el administrador técnico.</a:t>
            </a:r>
          </a:p>
        </p:txBody>
      </p:sp>
    </p:spTree>
    <p:extLst>
      <p:ext uri="{BB962C8B-B14F-4D97-AF65-F5344CB8AC3E}">
        <p14:creationId xmlns:p14="http://schemas.microsoft.com/office/powerpoint/2010/main" val="7211888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A36AA-4E3D-4711-8BD0-56C74CAD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En implantación, no en toda la Unión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A70F0-E5D1-488F-B6B9-CD0C1BCC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E9311-D275-4BFD-B4D8-70427C22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Cómo hablarlo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F5A3B-60BE-4F9F-8745-8BAA958A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907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El producto está modelado. La adopción es territorio por territorio, con piloto.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36FD5-15D1-441D-97C5-5280350C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Aún en proceso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42EF2-60C9-4F0F-97E3-5D30F4B5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051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Coordinación por zonas y cierre masivo de investiduras. Pedidos de camporee en otra rama.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A4E6A-114E-400F-878F-E5CF6D1B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Aún no listo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1E637-9917-41CC-9762-25902EC7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195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Historial completo de cambios de sección. Logística de campamento. Operación sin 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4D88D-317A-4EC2-BCDE-0B436B62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Sin cifras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E94D7-51D9-45C7-8A88-8E30996A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339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No hay ahorro, adopción ni disponibilidad medida para esta presentación.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ED989-9D9B-48F8-B372-37F82CCC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Código no equivale a pantalla ensayada. El piloto acota secciones y recorridos.</a:t>
            </a:r>
          </a:p>
        </p:txBody>
      </p:sp>
    </p:spTree>
    <p:extLst>
      <p:ext uri="{BB962C8B-B14F-4D97-AF65-F5344CB8AC3E}">
        <p14:creationId xmlns:p14="http://schemas.microsoft.com/office/powerpoint/2010/main" val="5307782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F00FF-0649-4DA8-BA32-C11DE4A0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Cómo empezar con la iglesia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EF344-FC1F-4921-B7C9-726C0E86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A3348-BF18-4F0A-83B1-1FDF43AE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Alcance acotado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70818-5EFF-4F21-8289-0857E49A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907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Elegir secciones y responsables. No un interruptor nacional.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EC2BB-4389-4F11-BF69-3BF5F9E0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Primer recorrido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39C1A-3D82-495E-AA53-0DDFE5DE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051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Ingreso, inscripción anual y una evidencia. Camporee o carpeta si el entorno ya los tiene.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54005-A07E-4A6D-AF5C-A4AB7CEC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Permisos reales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AB5BE-4E1C-42AC-8453-5B372DE3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195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Probar lo permitido y lo denegado con cuentas distintas, no con un solo administrador.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5F52B-4E69-434B-BBB1-B956630D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Evaluación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D549D-A663-4434-8D99-287087AD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339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Incidencias, tiempos reales y capacitación. Luego se amplía el mapa de producto.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5E35D-85C8-4477-A687-9EBB0003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F5E58"/>
                </a:solidFill>
                <a:latin typeface="Helvetica Neue"/>
                <a:ea typeface="Helvetica Neue"/>
                <a:cs typeface="Helvetica Neue"/>
              </a:rPr>
              <a:t>Fechas y responsables se acuerdan con la Unión. Esta lámina no es un contrato.</a:t>
            </a:r>
          </a:p>
        </p:txBody>
      </p:sp>
    </p:spTree>
    <p:extLst>
      <p:ext uri="{BB962C8B-B14F-4D97-AF65-F5344CB8AC3E}">
        <p14:creationId xmlns:p14="http://schemas.microsoft.com/office/powerpoint/2010/main" val="16490177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83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244C5-DD31-4EE9-BB67-6B278620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Decisión para la iglesia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A914B-213C-4B08-98BC-4046E84B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4D3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4D3CA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2BC0C-F6A8-4818-83BD-C578F118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Acordar el piloto y sus responsables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EA7C3-07E9-4D82-9272-C0C8CF2A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CE7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DCE7DC"/>
                </a:solidFill>
                <a:latin typeface="Helvetica Neue"/>
                <a:ea typeface="Helvetica Neue"/>
                <a:cs typeface="Helvetica Neue"/>
              </a:rPr>
              <a:t>Definir qué secciones participan, qué se demuestra primero y quién resuelve las excepciones del año. SACDIA queda como memoria y operación del ministerio; la implantación se decide aquí.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AD32D-E2D8-49FD-84B2-AD44588D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4D3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C4D3CA"/>
                </a:solidFill>
                <a:latin typeface="Helvetica Neue"/>
                <a:ea typeface="Helvetica Neue"/>
                <a:cs typeface="Helvetica Neue"/>
              </a:rPr>
              <a:t>Sin presupuesto ni plazo en esta lámina. El alcance se acuerda con la Unión.</a:t>
            </a:r>
          </a:p>
        </p:txBody>
      </p:sp>
    </p:spTree>
    <p:extLst>
      <p:ext uri="{BB962C8B-B14F-4D97-AF65-F5344CB8AC3E}">
        <p14:creationId xmlns:p14="http://schemas.microsoft.com/office/powerpoint/2010/main" val="880518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2026-09-14T22:35:57.9250000Z</dcterms:created>
  <dcterms:modified xsi:type="dcterms:W3CDTF">2026-09-14T22:35:57.9260000Z</dcterms:modified>
</coreProperties>
</file>